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4" r:id="rId1"/>
  </p:sldMasterIdLst>
  <p:notesMasterIdLst>
    <p:notesMasterId r:id="rId42"/>
  </p:notesMasterIdLst>
  <p:sldIdLst>
    <p:sldId id="256" r:id="rId2"/>
    <p:sldId id="266" r:id="rId3"/>
    <p:sldId id="257" r:id="rId4"/>
    <p:sldId id="306" r:id="rId5"/>
    <p:sldId id="304" r:id="rId6"/>
    <p:sldId id="308" r:id="rId7"/>
    <p:sldId id="259" r:id="rId8"/>
    <p:sldId id="284" r:id="rId9"/>
    <p:sldId id="283" r:id="rId10"/>
    <p:sldId id="270" r:id="rId11"/>
    <p:sldId id="285" r:id="rId12"/>
    <p:sldId id="286" r:id="rId13"/>
    <p:sldId id="268" r:id="rId14"/>
    <p:sldId id="289" r:id="rId15"/>
    <p:sldId id="293" r:id="rId16"/>
    <p:sldId id="288" r:id="rId17"/>
    <p:sldId id="267" r:id="rId18"/>
    <p:sldId id="279" r:id="rId19"/>
    <p:sldId id="280" r:id="rId20"/>
    <p:sldId id="265" r:id="rId21"/>
    <p:sldId id="294" r:id="rId22"/>
    <p:sldId id="262" r:id="rId23"/>
    <p:sldId id="272" r:id="rId24"/>
    <p:sldId id="275" r:id="rId25"/>
    <p:sldId id="291" r:id="rId26"/>
    <p:sldId id="296" r:id="rId27"/>
    <p:sldId id="297" r:id="rId28"/>
    <p:sldId id="298" r:id="rId29"/>
    <p:sldId id="299" r:id="rId30"/>
    <p:sldId id="300" r:id="rId31"/>
    <p:sldId id="305" r:id="rId32"/>
    <p:sldId id="302" r:id="rId33"/>
    <p:sldId id="276" r:id="rId34"/>
    <p:sldId id="303" r:id="rId35"/>
    <p:sldId id="278" r:id="rId36"/>
    <p:sldId id="310" r:id="rId37"/>
    <p:sldId id="264" r:id="rId38"/>
    <p:sldId id="309" r:id="rId39"/>
    <p:sldId id="311" r:id="rId40"/>
    <p:sldId id="260" r:id="rId41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 varScale="1">
        <p:scale>
          <a:sx n="71" d="100"/>
          <a:sy n="71" d="100"/>
        </p:scale>
        <p:origin x="113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517BB0-8135-4FA8-84DB-9E1B60F324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E07CF8-AD1D-4C94-8CBE-C56B0147310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F62B91ED-C770-4E32-8652-76B1F63C3DE4}" type="datetime1">
              <a:rPr lang="en-US" altLang="en-US"/>
              <a:pPr>
                <a:defRPr/>
              </a:pPr>
              <a:t>4/7/2026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16418C5-1B76-452F-9107-EE34E4BB21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1FB0A25-0C1C-48CE-9F28-D9D6FD9ACF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3EFED-4AB7-4D44-A630-1AD3C2F156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25CE41-4EE7-4D76-B634-86CDF84127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7B31045-4D44-4F2E-AC7F-AA7380796CF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74920024-3DA2-4444-8028-8869540951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4BA53E8A-08EB-4394-BE8E-E931766A1F1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17139C7E-2F55-4183-9636-D54391993E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A40E517-3D9A-4452-A81E-9F348A54062E}" type="slidenum">
              <a:rPr lang="en-US" altLang="en-US"/>
              <a:pPr/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194AB497-DC5B-4199-B29F-0E49186FF6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1AC1B31D-9647-47C8-83D7-BB9B958BC30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Thinking back—how did I learn? </a:t>
            </a: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35F0F5CE-C216-484B-9977-DABB668D5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DB67CE0-9C7C-4A87-87AD-079D65B2CBEB}" type="slidenum">
              <a:rPr lang="en-US" altLang="en-US"/>
              <a:pPr/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14B254BD-A2E8-43E9-BF20-4BFBB50F94B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24A1CCC5-0CE7-45D7-9B8A-0D42D8FBCD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Thinking back—how did I learn? </a:t>
            </a: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61056ED2-1758-49DB-9D12-67547849F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723B7B1-2186-4972-BD14-F95EF62905C0}" type="slidenum">
              <a:rPr lang="en-US" altLang="en-US"/>
              <a:pPr/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EC578B74-FCB8-47A1-93CE-85019F09811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35189339-2E7E-4E09-8A62-58C9E3863AA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Explain Discovery—how to put al that i</a:t>
            </a: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887D5828-3126-42E1-804B-4B2F21B05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C7602CA-6290-445C-8A63-F4670E9346D7}" type="slidenum">
              <a:rPr lang="en-US" altLang="en-US"/>
              <a:pPr/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23069FD6-E648-4727-8B26-0345B7F2D9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DE43A1C7-E42D-4065-9154-47B8FB3A797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Give examples</a:t>
            </a: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48ADC6D6-9F68-4648-8C7E-6065EE0FC3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FDDF2DE-C398-4981-9017-9BA68267515E}" type="slidenum">
              <a:rPr lang="en-US" altLang="en-US"/>
              <a:pPr/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030C0FA8-3F8C-4C60-B2D1-A63ABA05C8D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0EA9A764-28BB-4B5A-A0C0-473050BEE1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Discuss the why</a:t>
            </a: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E16CD963-44B2-4953-9DA8-B1BBA8739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2450C78-662B-4787-9D1A-B8CD3B06DA0C}" type="slidenum">
              <a:rPr lang="en-US" altLang="en-US"/>
              <a:pPr/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6B757A9F-515C-40F2-9672-20BD54AEA89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83D8EA18-0656-47B0-8EBC-BBC8CFF8B2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Most sensitive biomarkers are of no use in the clinical lab if they cannot be operationalized and scale. </a:t>
            </a:r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DFD00117-5415-4D23-BE3D-E6053EF3FE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8484D11-8575-4867-A5BD-2AFF8A2AEBB7}" type="slidenum">
              <a:rPr lang="en-US" altLang="en-US"/>
              <a:pPr/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C141BC95-FF53-466B-9008-265C0E98E1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815C793F-53B5-4BDB-BAC2-CB3E74F4992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EE3A5FD6-BF23-4043-8B64-728DDA5C0C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FA69B29-4203-4355-8C77-7E5909570E6D}" type="slidenum">
              <a:rPr lang="en-US" altLang="en-US"/>
              <a:pPr/>
              <a:t>23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3523E87F-C777-4480-ADA1-76AD554CDE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BAB71554-9822-464C-B65E-FB91B9A073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Out of date SOP’s. A lot of things “we’ve always done it this way”</a:t>
            </a:r>
          </a:p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2874F0E5-4E86-4B6B-A718-D8B73C6C1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7C37546-4EC2-4E8F-A839-A4EBF610C17F}" type="slidenum">
              <a:rPr lang="en-US" altLang="en-US"/>
              <a:pPr/>
              <a:t>32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C6F98-D085-4437-98CE-234E03075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0A3FE-E606-43AF-8602-C59359DC63B6}" type="datetime1">
              <a:rPr lang="en-US" altLang="en-US"/>
              <a:pPr>
                <a:defRPr/>
              </a:pPr>
              <a:t>4/7/2026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5600B-AE99-4C61-97BA-3ADF3C19E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C8957-89AF-49EC-BBEC-C77697EBB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09A939-561C-47F7-B369-77B73D31EE9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5498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D53E4-6094-4A71-871D-19658E95F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4EBD9-A17F-432B-80DB-0DA80EE9F615}" type="datetime1">
              <a:rPr lang="en-US" altLang="en-US"/>
              <a:pPr>
                <a:defRPr/>
              </a:pPr>
              <a:t>4/7/2026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D2E72-E053-43A6-96FB-10EB7C7F3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85C9A-5AA3-4741-B49E-B59DD815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532BC4-E82D-445B-AAD9-D6527CE997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5416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4144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4144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8D2F7F5-8D65-489F-918D-33DCACDE3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DCC116-4692-406E-AA33-7232586EE88F}" type="datetime1">
              <a:rPr lang="en-US" altLang="en-US"/>
              <a:pPr>
                <a:defRPr/>
              </a:pPr>
              <a:t>4/7/2026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76E31B6-FF47-48A9-ACF1-324D68D5E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F23A9D1-DAB5-412F-BA2D-1CA122FAE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2BBBE4-4A6D-4C22-B335-10351EB5E6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2818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92917AB-370D-4DEF-B668-0F0438D24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D9C1E0-418A-4C33-AA67-F5BEC36F0162}" type="datetime1">
              <a:rPr lang="en-US" altLang="en-US"/>
              <a:pPr>
                <a:defRPr/>
              </a:pPr>
              <a:t>4/7/2026</a:t>
            </a:fld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E53D08-E1DA-418D-98D9-E6EEF45CB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F4656DD-DE81-42CB-84D8-205F87F29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4360FF-DDEB-42E6-81B1-7EB4310A98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637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1403FD-CF99-477F-A385-7DAE2440E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F5152B-1E8B-4200-AFC8-C7136FD369C7}" type="datetime1">
              <a:rPr lang="en-US" altLang="en-US"/>
              <a:pPr>
                <a:defRPr/>
              </a:pPr>
              <a:t>4/7/2026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A84BB58-A07D-444C-98DB-635B0C1FE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69139AF-886D-46B3-B6CA-37DFB0769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A79CCF-7232-4B04-BB0E-0FE33711FF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1706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0FDDD6D-77F8-4D0C-A8BB-A20DE6477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371B1D-E737-4CF0-A002-E0E96078E28D}" type="datetime1">
              <a:rPr lang="en-US" altLang="en-US"/>
              <a:pPr>
                <a:defRPr/>
              </a:pPr>
              <a:t>4/7/2026</a:t>
            </a:fld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A046BF-4787-409B-BEE0-50D801762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DB69BED-33EA-4788-AED2-E82F8D4D2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58A018-8A00-42BE-8A81-4BE4B4703F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4251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C04C8DD-2F5E-4AAF-B808-1F268F35527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23863" y="7620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5357312-B990-4E93-B6EA-D92154DBC87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57400"/>
            <a:ext cx="8229600" cy="406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A5FFC-3A28-4778-82ED-D14C7E1BF6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14F95A3-DDEB-42A6-B023-169306193A61}" type="datetime1">
              <a:rPr lang="en-US" altLang="en-US"/>
              <a:pPr>
                <a:defRPr/>
              </a:pPr>
              <a:t>4/7/2026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B5CD1-206E-4DD2-AA0A-A62D3CBBC2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C4557-9845-4162-94DD-CB553A58C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31E09D0E-7EFA-4E9F-B521-19B8435D7DD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MS PGothic" pitchFamily="34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itchFamily="34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itchFamily="34" charset="-128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itchFamily="34" charset="-128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itchFamily="34" charset="-128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itchFamily="34" charset="-128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336ACD05-6F4F-4ED1-9F14-41C3AA67C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1524000"/>
            <a:ext cx="8001000" cy="1470025"/>
          </a:xfrm>
        </p:spPr>
        <p:txBody>
          <a:bodyPr/>
          <a:lstStyle/>
          <a:p>
            <a:pPr eaLnBrk="1" hangingPunct="1"/>
            <a:r>
              <a:rPr lang="en-US" altLang="en-US" sz="4000"/>
              <a:t>SOP Writing and Document Control for the Research Laboratory</a:t>
            </a:r>
          </a:p>
        </p:txBody>
      </p:sp>
      <p:sp>
        <p:nvSpPr>
          <p:cNvPr id="3075" name="Subtitle 2">
            <a:extLst>
              <a:ext uri="{FF2B5EF4-FFF2-40B4-BE49-F238E27FC236}">
                <a16:creationId xmlns:a16="http://schemas.microsoft.com/office/drawing/2014/main" id="{1D5867CC-F384-4768-B552-1369DA99E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9144000" cy="1752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900">
                <a:solidFill>
                  <a:srgbClr val="898989"/>
                </a:solidFill>
              </a:rPr>
              <a:t>Zahra Shajani Yi, PhD NRCC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>
                <a:solidFill>
                  <a:srgbClr val="898989"/>
                </a:solidFill>
              </a:rPr>
              <a:t>Assistant Professor of Pathology, Microbiology and Immunology</a:t>
            </a:r>
          </a:p>
          <a:p>
            <a:pPr eaLnBrk="1" hangingPunct="1">
              <a:lnSpc>
                <a:spcPct val="80000"/>
              </a:lnSpc>
              <a:spcAft>
                <a:spcPts val="1200"/>
              </a:spcAft>
            </a:pPr>
            <a:r>
              <a:rPr lang="en-US" altLang="en-US" sz="1600">
                <a:solidFill>
                  <a:srgbClr val="898989"/>
                </a:solidFill>
              </a:rPr>
              <a:t>Vanderbilt University School of Medicine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>
                <a:solidFill>
                  <a:srgbClr val="898989"/>
                </a:solidFill>
              </a:rPr>
              <a:t>Associate Directory of Clinical Chemistry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>
                <a:solidFill>
                  <a:srgbClr val="898989"/>
                </a:solidFill>
              </a:rPr>
              <a:t>Medical Director of Esoteric Chemistry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>
                <a:solidFill>
                  <a:srgbClr val="898989"/>
                </a:solidFill>
              </a:rPr>
              <a:t>Vanderbilt University Medical Center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289CBE30-6D84-412C-8796-32808689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Objectives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3E659118-7D89-4FD7-8609-4BC96003B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068763"/>
          </a:xfrm>
        </p:spPr>
        <p:txBody>
          <a:bodyPr/>
          <a:lstStyle/>
          <a:p>
            <a:pPr marL="514350" indent="-514350">
              <a:buFont typeface="Calibri" panose="020F0502020204030204" pitchFamily="34" charset="0"/>
              <a:buAutoNum type="arabicParenR"/>
            </a:pPr>
            <a:r>
              <a:rPr lang="en-US" altLang="en-US" sz="2800"/>
              <a:t>Understand the difference between </a:t>
            </a:r>
            <a:r>
              <a:rPr lang="en-US" altLang="en-US" sz="2800" b="1"/>
              <a:t>Research and Development </a:t>
            </a:r>
            <a:r>
              <a:rPr lang="en-US" altLang="en-US" sz="2800"/>
              <a:t>and </a:t>
            </a:r>
            <a:r>
              <a:rPr lang="en-US" altLang="en-US" sz="2800" b="1"/>
              <a:t>Operations</a:t>
            </a:r>
            <a:r>
              <a:rPr lang="en-US" altLang="en-US" sz="2800"/>
              <a:t>  and that they require different tools</a:t>
            </a:r>
          </a:p>
          <a:p>
            <a:pPr marL="514350" indent="-514350">
              <a:buFont typeface="Calibri" panose="020F0502020204030204" pitchFamily="34" charset="0"/>
              <a:buAutoNum type="arabicParenR"/>
            </a:pPr>
            <a:endParaRPr lang="en-US" altLang="en-US" sz="2800"/>
          </a:p>
          <a:p>
            <a:pPr marL="514350" indent="-514350">
              <a:buFont typeface="Calibri" panose="020F0502020204030204" pitchFamily="34" charset="0"/>
              <a:buAutoNum type="arabicParenR"/>
            </a:pPr>
            <a:r>
              <a:rPr lang="en-US" altLang="en-US" sz="2800"/>
              <a:t>Understand what is a Standard Operating Procedure (SOP)  and how it impacts operations</a:t>
            </a:r>
          </a:p>
          <a:p>
            <a:pPr marL="514350" indent="-514350">
              <a:buFont typeface="Calibri" panose="020F0502020204030204" pitchFamily="34" charset="0"/>
              <a:buAutoNum type="arabicParenR"/>
            </a:pPr>
            <a:endParaRPr lang="en-US" altLang="en-US" sz="2800"/>
          </a:p>
          <a:p>
            <a:pPr marL="514350" indent="-514350">
              <a:buFont typeface="Calibri" panose="020F0502020204030204" pitchFamily="34" charset="0"/>
              <a:buAutoNum type="arabicParenR"/>
            </a:pPr>
            <a:r>
              <a:rPr lang="en-US" altLang="en-US" sz="2800"/>
              <a:t>Most importantly, determine if an SOP will be useful to your Core Facility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4">
            <a:extLst>
              <a:ext uri="{FF2B5EF4-FFF2-40B4-BE49-F238E27FC236}">
                <a16:creationId xmlns:a16="http://schemas.microsoft.com/office/drawing/2014/main" id="{97F8493C-8E25-48F9-AFBF-1F43547A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Outline</a:t>
            </a:r>
          </a:p>
        </p:txBody>
      </p:sp>
      <p:sp>
        <p:nvSpPr>
          <p:cNvPr id="5123" name="Content Placeholder 5">
            <a:extLst>
              <a:ext uri="{FF2B5EF4-FFF2-40B4-BE49-F238E27FC236}">
                <a16:creationId xmlns:a16="http://schemas.microsoft.com/office/drawing/2014/main" id="{DE7E0669-D240-4BCD-9EFC-BCE45178D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eaLnBrk="1" hangingPunct="1">
              <a:buFont typeface="Calibri" panose="020F0502020204030204" pitchFamily="34" charset="0"/>
              <a:buAutoNum type="arabicParenR"/>
            </a:pPr>
            <a:r>
              <a:rPr lang="en-US" altLang="en-US" sz="2800"/>
              <a:t>Different goals require different tools</a:t>
            </a:r>
          </a:p>
          <a:p>
            <a:pPr marL="914400" lvl="1" indent="-514350" eaLnBrk="1" hangingPunct="1">
              <a:buFont typeface="Calibri" panose="020F0502020204030204" pitchFamily="34" charset="0"/>
              <a:buAutoNum type="alphaLcParenR"/>
            </a:pPr>
            <a:r>
              <a:rPr lang="en-US" altLang="en-US" sz="2400"/>
              <a:t>Differences between Research and Clinical Laboratories</a:t>
            </a:r>
          </a:p>
          <a:p>
            <a:pPr marL="914400" lvl="1" indent="-514350" eaLnBrk="1" hangingPunct="1">
              <a:buFont typeface="Calibri" panose="020F0502020204030204" pitchFamily="34" charset="0"/>
              <a:buAutoNum type="alphaLcParenR"/>
            </a:pPr>
            <a:r>
              <a:rPr lang="en-US" altLang="en-US" sz="2400"/>
              <a:t>Differences between Research and Development and Clinical Operations</a:t>
            </a:r>
          </a:p>
          <a:p>
            <a:pPr marL="914400" lvl="1" indent="-514350" eaLnBrk="1" hangingPunct="1">
              <a:buFont typeface="Arial" panose="020B0604020202020204" pitchFamily="34" charset="0"/>
              <a:buNone/>
            </a:pPr>
            <a:endParaRPr lang="en-US" altLang="en-US" sz="2400"/>
          </a:p>
          <a:p>
            <a:pPr marL="514350" indent="-514350" eaLnBrk="1" hangingPunct="1">
              <a:buFont typeface="Calibri" panose="020F0502020204030204" pitchFamily="34" charset="0"/>
              <a:buAutoNum type="arabicParenR"/>
            </a:pPr>
            <a:r>
              <a:rPr lang="en-US" altLang="en-US" sz="2800"/>
              <a:t>Standard Operating Procedures (SOP)</a:t>
            </a:r>
          </a:p>
          <a:p>
            <a:pPr marL="914400" lvl="1" indent="-514350" eaLnBrk="1" hangingPunct="1">
              <a:buFont typeface="Calibri" panose="020F0502020204030204" pitchFamily="34" charset="0"/>
              <a:buAutoNum type="alphaLcParenR"/>
            </a:pPr>
            <a:r>
              <a:rPr lang="en-US" altLang="en-US" sz="2400"/>
              <a:t>When and why one should use a SOP</a:t>
            </a:r>
          </a:p>
          <a:p>
            <a:pPr marL="914400" lvl="1" indent="-514350" eaLnBrk="1" hangingPunct="1">
              <a:buFont typeface="Calibri" panose="020F0502020204030204" pitchFamily="34" charset="0"/>
              <a:buAutoNum type="alphaLcParenR"/>
            </a:pPr>
            <a:r>
              <a:rPr lang="en-US" altLang="en-US" sz="2400"/>
              <a:t>Components of a SOP</a:t>
            </a:r>
          </a:p>
          <a:p>
            <a:pPr marL="914400" lvl="1" indent="-514350" eaLnBrk="1" hangingPunct="1">
              <a:buFont typeface="Calibri" panose="020F0502020204030204" pitchFamily="34" charset="0"/>
              <a:buAutoNum type="alphaLcParenR"/>
            </a:pPr>
            <a:r>
              <a:rPr lang="en-US" altLang="en-US" sz="2400"/>
              <a:t>Maintaining a SOP</a:t>
            </a:r>
          </a:p>
          <a:p>
            <a:pPr marL="514350" indent="-514350" eaLnBrk="1" hangingPunct="1">
              <a:buFont typeface="Calibri" panose="020F0502020204030204" pitchFamily="34" charset="0"/>
              <a:buAutoNum type="arabicParenR"/>
            </a:pP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54EB03A-D9AD-423E-AAA9-B9B01F20B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609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My Background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7DAB85BD-B344-4B50-B653-9EF7AA565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660525"/>
            <a:ext cx="8458200" cy="2149475"/>
          </a:xfrm>
        </p:spPr>
        <p:txBody>
          <a:bodyPr/>
          <a:lstStyle/>
          <a:p>
            <a:pPr eaLnBrk="1" hangingPunct="1"/>
            <a:r>
              <a:rPr lang="en-US" altLang="en-US" sz="2800"/>
              <a:t>Scientist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400"/>
              <a:t>Trained as a chemist and biophysical chemist 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400"/>
              <a:t>Transitioned into molecular biology 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400"/>
              <a:t>Currently faculty at VU and an associate medical director of clinical laboratories at VUMC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B1BB65-B750-4D47-8984-843FD2FE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3810000"/>
            <a:ext cx="8280400" cy="275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Research for about 15 years</a:t>
            </a:r>
          </a:p>
          <a:p>
            <a:pPr lvl="1" eaLnBrk="1" hangingPunct="1">
              <a:spcBef>
                <a:spcPts val="600"/>
              </a:spcBef>
              <a:buFont typeface="Calibri" panose="020F0502020204030204" pitchFamily="34" charset="0"/>
              <a:buChar char="–"/>
            </a:pPr>
            <a:r>
              <a:rPr lang="en-US" altLang="en-US" sz="2400">
                <a:latin typeface="Calibri" panose="020F0502020204030204" pitchFamily="34" charset="0"/>
              </a:rPr>
              <a:t>Undergraduate (2 years)</a:t>
            </a:r>
          </a:p>
          <a:p>
            <a:pPr lvl="1" eaLnBrk="1" hangingPunct="1">
              <a:spcBef>
                <a:spcPts val="600"/>
              </a:spcBef>
              <a:buFont typeface="Calibri" panose="020F0502020204030204" pitchFamily="34" charset="0"/>
              <a:buChar char="–"/>
            </a:pPr>
            <a:r>
              <a:rPr lang="en-US" altLang="en-US" sz="2400">
                <a:latin typeface="Calibri" panose="020F0502020204030204" pitchFamily="34" charset="0"/>
              </a:rPr>
              <a:t>PhD (6 years)</a:t>
            </a:r>
          </a:p>
          <a:p>
            <a:pPr lvl="1" eaLnBrk="1" hangingPunct="1">
              <a:spcBef>
                <a:spcPts val="600"/>
              </a:spcBef>
              <a:buFont typeface="Calibri" panose="020F0502020204030204" pitchFamily="34" charset="0"/>
              <a:buChar char="–"/>
            </a:pPr>
            <a:r>
              <a:rPr lang="en-US" altLang="en-US" sz="2400">
                <a:latin typeface="Calibri" panose="020F0502020204030204" pitchFamily="34" charset="0"/>
              </a:rPr>
              <a:t>Post-doctoral Fellow (4 years)</a:t>
            </a:r>
          </a:p>
          <a:p>
            <a:pPr lvl="1" eaLnBrk="1" hangingPunct="1">
              <a:spcBef>
                <a:spcPts val="600"/>
              </a:spcBef>
              <a:buFont typeface="Calibri" panose="020F0502020204030204" pitchFamily="34" charset="0"/>
              <a:buChar char="–"/>
            </a:pPr>
            <a:r>
              <a:rPr lang="en-US" altLang="en-US" sz="2400">
                <a:latin typeface="Calibri" panose="020F0502020204030204" pitchFamily="34" charset="0"/>
              </a:rPr>
              <a:t>Clinical Fellow (2 years)</a:t>
            </a:r>
          </a:p>
          <a:p>
            <a:pPr lvl="1" eaLnBrk="1" hangingPunct="1">
              <a:spcBef>
                <a:spcPts val="600"/>
              </a:spcBef>
              <a:buFont typeface="Calibri" panose="020F0502020204030204" pitchFamily="34" charset="0"/>
              <a:buChar char="–"/>
            </a:pPr>
            <a:r>
              <a:rPr lang="en-US" altLang="en-US" sz="2400">
                <a:latin typeface="Calibri" panose="020F0502020204030204" pitchFamily="34" charset="0"/>
              </a:rPr>
              <a:t>Medical Director (&gt;1 year)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DD58ECA-55FC-4F43-8C39-BA2799551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My Background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5C7DC5F0-C836-4E13-B97E-754384F22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Not an operations person</a:t>
            </a:r>
          </a:p>
          <a:p>
            <a:pPr eaLnBrk="1" hangingPunct="1"/>
            <a:r>
              <a:rPr lang="en-US" altLang="en-US" sz="2800"/>
              <a:t>Believed that it stifled creativity</a:t>
            </a:r>
          </a:p>
          <a:p>
            <a:pPr eaLnBrk="1" hangingPunct="1"/>
            <a:r>
              <a:rPr lang="en-US" altLang="en-US" sz="2800"/>
              <a:t>Lab reports were once written like philosophy essays</a:t>
            </a:r>
          </a:p>
          <a:p>
            <a:pPr eaLnBrk="1" hangingPunct="1"/>
            <a:r>
              <a:rPr lang="en-US" altLang="en-US" sz="2800"/>
              <a:t>My procedures were minimal in detail at times. I relied on my memory a lot day to day.</a:t>
            </a:r>
          </a:p>
          <a:p>
            <a:pPr eaLnBrk="1" hangingPunct="1"/>
            <a:r>
              <a:rPr lang="en-US" altLang="en-US" sz="2800"/>
              <a:t>Now I understand that research and development and clinical operations need some different tools</a:t>
            </a:r>
          </a:p>
          <a:p>
            <a:pPr eaLnBrk="1" hangingPunct="1"/>
            <a:endParaRPr lang="en-US" altLang="en-US" sz="2800"/>
          </a:p>
          <a:p>
            <a:pPr marL="457200" lvl="1" indent="0" eaLnBrk="1" hangingPunct="1">
              <a:buFont typeface="Arial" panose="020B0604020202020204" pitchFamily="34" charset="0"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8">
            <a:extLst>
              <a:ext uri="{FF2B5EF4-FFF2-40B4-BE49-F238E27FC236}">
                <a16:creationId xmlns:a16="http://schemas.microsoft.com/office/drawing/2014/main" id="{1620F81D-BBF1-42F1-ADB1-34F4AF79F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Some Difference</a:t>
            </a:r>
          </a:p>
        </p:txBody>
      </p:sp>
      <p:sp>
        <p:nvSpPr>
          <p:cNvPr id="9219" name="Text Placeholder 9">
            <a:extLst>
              <a:ext uri="{FF2B5EF4-FFF2-40B4-BE49-F238E27FC236}">
                <a16:creationId xmlns:a16="http://schemas.microsoft.com/office/drawing/2014/main" id="{A2F7065D-66F3-4F78-970E-043231279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altLang="en-US" sz="2800" u="sng"/>
              <a:t>Research Laboratory</a:t>
            </a:r>
            <a:r>
              <a:rPr lang="en-US" altLang="en-US" sz="2800"/>
              <a:t>		</a:t>
            </a:r>
          </a:p>
        </p:txBody>
      </p:sp>
      <p:sp>
        <p:nvSpPr>
          <p:cNvPr id="9220" name="Content Placeholder 10">
            <a:extLst>
              <a:ext uri="{FF2B5EF4-FFF2-40B4-BE49-F238E27FC236}">
                <a16:creationId xmlns:a16="http://schemas.microsoft.com/office/drawing/2014/main" id="{4A14B185-753C-4276-9F53-6D1B34306F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187825" cy="4378325"/>
          </a:xfrm>
        </p:spPr>
        <p:txBody>
          <a:bodyPr/>
          <a:lstStyle/>
          <a:p>
            <a:r>
              <a:rPr lang="en-US" altLang="en-US" sz="2800"/>
              <a:t>Hypothesis-driven research</a:t>
            </a:r>
          </a:p>
          <a:p>
            <a:r>
              <a:rPr lang="en-US" altLang="en-US" sz="2800"/>
              <a:t>More flexible with time</a:t>
            </a:r>
          </a:p>
          <a:p>
            <a:r>
              <a:rPr lang="en-US" altLang="en-US" sz="2800"/>
              <a:t>Creativity is important</a:t>
            </a:r>
          </a:p>
          <a:p>
            <a:r>
              <a:rPr lang="en-US" altLang="en-US" sz="2800"/>
              <a:t>Variation and Optimization is welcome</a:t>
            </a:r>
          </a:p>
          <a:p>
            <a:r>
              <a:rPr lang="en-US" altLang="en-US" sz="2800"/>
              <a:t>End-User: PI and yourself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2800"/>
          </a:p>
          <a:p>
            <a:pPr>
              <a:buFont typeface="Arial" panose="020B0604020202020204" pitchFamily="34" charset="0"/>
              <a:buNone/>
            </a:pPr>
            <a:endParaRPr lang="en-US" altLang="en-US" sz="2800"/>
          </a:p>
          <a:p>
            <a:endParaRPr lang="en-US" altLang="en-US"/>
          </a:p>
          <a:p>
            <a:pPr>
              <a:buFont typeface="Arial" panose="020B0604020202020204" pitchFamily="34" charset="0"/>
              <a:buNone/>
            </a:pPr>
            <a:endParaRPr lang="en-US" altLang="en-US"/>
          </a:p>
          <a:p>
            <a:endParaRPr lang="en-US" altLang="en-US"/>
          </a:p>
        </p:txBody>
      </p:sp>
      <p:sp>
        <p:nvSpPr>
          <p:cNvPr id="9221" name="Text Placeholder 11">
            <a:extLst>
              <a:ext uri="{FF2B5EF4-FFF2-40B4-BE49-F238E27FC236}">
                <a16:creationId xmlns:a16="http://schemas.microsoft.com/office/drawing/2014/main" id="{AC419816-6141-4C16-BAC1-91A20258C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altLang="en-US" sz="2800" u="sng"/>
              <a:t>Clinical/Core Laboratory</a:t>
            </a:r>
          </a:p>
        </p:txBody>
      </p:sp>
      <p:sp>
        <p:nvSpPr>
          <p:cNvPr id="9222" name="Content Placeholder 12">
            <a:extLst>
              <a:ext uri="{FF2B5EF4-FFF2-40B4-BE49-F238E27FC236}">
                <a16:creationId xmlns:a16="http://schemas.microsoft.com/office/drawing/2014/main" id="{8522359F-1654-4899-81C6-3A58E51508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498975" cy="3951288"/>
          </a:xfrm>
        </p:spPr>
        <p:txBody>
          <a:bodyPr/>
          <a:lstStyle/>
          <a:p>
            <a:r>
              <a:rPr lang="en-US" altLang="en-US" sz="2800"/>
              <a:t>Patients/clinical trials</a:t>
            </a:r>
          </a:p>
          <a:p>
            <a:r>
              <a:rPr lang="en-US" altLang="en-US" sz="2800"/>
              <a:t>Time constraints</a:t>
            </a:r>
          </a:p>
          <a:p>
            <a:r>
              <a:rPr lang="en-US" altLang="en-US" sz="2800"/>
              <a:t>Need consistency</a:t>
            </a:r>
          </a:p>
          <a:p>
            <a:r>
              <a:rPr lang="en-US" altLang="en-US" sz="2800"/>
              <a:t>Reproducible</a:t>
            </a:r>
          </a:p>
          <a:p>
            <a:r>
              <a:rPr lang="en-US" altLang="en-US" sz="2800"/>
              <a:t>Regulatory component</a:t>
            </a:r>
          </a:p>
          <a:p>
            <a:r>
              <a:rPr lang="en-US" altLang="en-US" sz="2800"/>
              <a:t>End User—patient or clinician</a:t>
            </a:r>
          </a:p>
          <a:p>
            <a:pPr algn="ctr">
              <a:buFont typeface="Arial" panose="020B0604020202020204" pitchFamily="34" charset="0"/>
              <a:buNone/>
            </a:pPr>
            <a:endParaRPr lang="en-US" altLang="en-US" sz="2800"/>
          </a:p>
        </p:txBody>
      </p:sp>
      <p:sp>
        <p:nvSpPr>
          <p:cNvPr id="9223" name="TextBox 6">
            <a:extLst>
              <a:ext uri="{FF2B5EF4-FFF2-40B4-BE49-F238E27FC236}">
                <a16:creationId xmlns:a16="http://schemas.microsoft.com/office/drawing/2014/main" id="{C7E68FB9-6A04-4397-9BE3-4CAF1136A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943600"/>
            <a:ext cx="6858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800"/>
              <a:t>Different styles of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9A937626-9E22-4078-A6F7-7D64A72AF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My Background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FA1F533E-0A99-4CAF-87FA-AB8640C34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Wide range of techniques</a:t>
            </a:r>
          </a:p>
          <a:p>
            <a:pPr lvl="1" eaLnBrk="1" hangingPunct="1"/>
            <a:r>
              <a:rPr lang="en-US" altLang="en-US" sz="2400"/>
              <a:t>Crystal Growth</a:t>
            </a:r>
          </a:p>
          <a:p>
            <a:pPr lvl="1" eaLnBrk="1" hangingPunct="1"/>
            <a:r>
              <a:rPr lang="en-US" altLang="en-US" sz="2400"/>
              <a:t>RNA preparation and purification</a:t>
            </a:r>
          </a:p>
          <a:p>
            <a:pPr lvl="1" eaLnBrk="1" hangingPunct="1"/>
            <a:r>
              <a:rPr lang="en-US" altLang="en-US" sz="2400"/>
              <a:t>Ribosome Preparation </a:t>
            </a:r>
          </a:p>
          <a:p>
            <a:pPr lvl="1" eaLnBrk="1" hangingPunct="1"/>
            <a:r>
              <a:rPr lang="en-US" altLang="en-US" sz="2400"/>
              <a:t>Agarose Gel</a:t>
            </a:r>
          </a:p>
          <a:p>
            <a:pPr lvl="1" eaLnBrk="1" hangingPunct="1"/>
            <a:r>
              <a:rPr lang="en-US" altLang="en-US" sz="2400"/>
              <a:t>Acrylamide Gels</a:t>
            </a:r>
          </a:p>
          <a:p>
            <a:pPr lvl="1" eaLnBrk="1" hangingPunct="1"/>
            <a:r>
              <a:rPr lang="en-US" altLang="en-US" sz="2400"/>
              <a:t>NMR</a:t>
            </a:r>
          </a:p>
          <a:p>
            <a:pPr lvl="1" eaLnBrk="1" hangingPunct="1"/>
            <a:r>
              <a:rPr lang="en-US" altLang="en-US" sz="2400"/>
              <a:t>Mass Spectrometry</a:t>
            </a:r>
          </a:p>
        </p:txBody>
      </p:sp>
      <p:sp>
        <p:nvSpPr>
          <p:cNvPr id="10244" name="TextBox 1">
            <a:extLst>
              <a:ext uri="{FF2B5EF4-FFF2-40B4-BE49-F238E27FC236}">
                <a16:creationId xmlns:a16="http://schemas.microsoft.com/office/drawing/2014/main" id="{615DD99E-8E96-4C06-AA93-9AF462BB9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6019800"/>
            <a:ext cx="7848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800" i="1"/>
              <a:t>How do you learn new skills/techniques?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C9CF5051-FF33-4D01-8A04-0DE9CB31A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2000"/>
            <a:ext cx="9144000" cy="1143000"/>
          </a:xfrm>
        </p:spPr>
        <p:txBody>
          <a:bodyPr/>
          <a:lstStyle/>
          <a:p>
            <a:r>
              <a:rPr lang="en-US" altLang="en-US" sz="4000" i="1"/>
              <a:t>How do we learn new skills/techniques?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105E6EE2-7107-44A5-BA36-D172317F0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Observation</a:t>
            </a:r>
          </a:p>
          <a:p>
            <a:r>
              <a:rPr lang="en-US" altLang="en-US"/>
              <a:t>Asking questions </a:t>
            </a:r>
          </a:p>
          <a:p>
            <a:r>
              <a:rPr lang="en-US" altLang="en-US"/>
              <a:t>Taking notes</a:t>
            </a:r>
          </a:p>
          <a:p>
            <a:r>
              <a:rPr lang="en-US" altLang="en-US"/>
              <a:t>Reading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FE86FE31-10E8-4CD4-A057-E73DB7CCF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2000"/>
            <a:ext cx="9144000" cy="1143000"/>
          </a:xfrm>
        </p:spPr>
        <p:txBody>
          <a:bodyPr/>
          <a:lstStyle/>
          <a:p>
            <a:r>
              <a:rPr lang="en-US" altLang="en-US" sz="4000" i="1"/>
              <a:t>How do we learn new skills/techniques?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496E7EB4-3E2B-45F3-A760-6B68B1718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Observation</a:t>
            </a:r>
          </a:p>
          <a:p>
            <a:r>
              <a:rPr lang="en-US" altLang="en-US"/>
              <a:t>Asking questions </a:t>
            </a:r>
          </a:p>
          <a:p>
            <a:r>
              <a:rPr lang="en-US" altLang="en-US"/>
              <a:t>Taking notes</a:t>
            </a:r>
          </a:p>
          <a:p>
            <a:r>
              <a:rPr lang="en-US" altLang="en-US"/>
              <a:t>Reading</a:t>
            </a:r>
          </a:p>
          <a:p>
            <a:endParaRPr lang="en-US" altLang="en-US"/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									Develop a general												Procedure</a:t>
            </a:r>
          </a:p>
        </p:txBody>
      </p:sp>
      <p:sp>
        <p:nvSpPr>
          <p:cNvPr id="4" name="Bent-Up Arrow 3">
            <a:extLst>
              <a:ext uri="{FF2B5EF4-FFF2-40B4-BE49-F238E27FC236}">
                <a16:creationId xmlns:a16="http://schemas.microsoft.com/office/drawing/2014/main" id="{FCDA6DB6-2131-4591-BAE1-95659606D204}"/>
              </a:ext>
            </a:extLst>
          </p:cNvPr>
          <p:cNvSpPr>
            <a:spLocks/>
          </p:cNvSpPr>
          <p:nvPr/>
        </p:nvSpPr>
        <p:spPr bwMode="auto">
          <a:xfrm rot="5400000">
            <a:off x="1623219" y="4433094"/>
            <a:ext cx="1477962" cy="1981200"/>
          </a:xfrm>
          <a:custGeom>
            <a:avLst/>
            <a:gdLst>
              <a:gd name="T0" fmla="*/ 0 w 1774825"/>
              <a:gd name="T1" fmla="*/ 1537494 h 1981200"/>
              <a:gd name="T2" fmla="*/ 923728 w 1774825"/>
              <a:gd name="T3" fmla="*/ 1537494 h 1981200"/>
              <a:gd name="T4" fmla="*/ 923728 w 1774825"/>
              <a:gd name="T5" fmla="*/ 443706 h 1981200"/>
              <a:gd name="T6" fmla="*/ 738982 w 1774825"/>
              <a:gd name="T7" fmla="*/ 443706 h 1981200"/>
              <a:gd name="T8" fmla="*/ 1108473 w 1774825"/>
              <a:gd name="T9" fmla="*/ 0 h 1981200"/>
              <a:gd name="T10" fmla="*/ 1477964 w 1774825"/>
              <a:gd name="T11" fmla="*/ 443706 h 1981200"/>
              <a:gd name="T12" fmla="*/ 1293219 w 1774825"/>
              <a:gd name="T13" fmla="*/ 443706 h 1981200"/>
              <a:gd name="T14" fmla="*/ 1293219 w 1774825"/>
              <a:gd name="T15" fmla="*/ 1981200 h 1981200"/>
              <a:gd name="T16" fmla="*/ 0 w 1774825"/>
              <a:gd name="T17" fmla="*/ 1981200 h 1981200"/>
              <a:gd name="T18" fmla="*/ 0 w 1774825"/>
              <a:gd name="T19" fmla="*/ 1537494 h 19812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774825"/>
              <a:gd name="T31" fmla="*/ 0 h 1981200"/>
              <a:gd name="T32" fmla="*/ 1774825 w 1774825"/>
              <a:gd name="T33" fmla="*/ 1981200 h 198120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774825" h="1981200">
                <a:moveTo>
                  <a:pt x="0" y="1537494"/>
                </a:moveTo>
                <a:lnTo>
                  <a:pt x="1109266" y="1537494"/>
                </a:lnTo>
                <a:lnTo>
                  <a:pt x="1109266" y="443706"/>
                </a:lnTo>
                <a:lnTo>
                  <a:pt x="887413" y="443706"/>
                </a:lnTo>
                <a:lnTo>
                  <a:pt x="1331119" y="0"/>
                </a:lnTo>
                <a:lnTo>
                  <a:pt x="1774825" y="443706"/>
                </a:lnTo>
                <a:lnTo>
                  <a:pt x="1552972" y="443706"/>
                </a:lnTo>
                <a:lnTo>
                  <a:pt x="1552972" y="1981200"/>
                </a:lnTo>
                <a:lnTo>
                  <a:pt x="0" y="1981200"/>
                </a:lnTo>
                <a:lnTo>
                  <a:pt x="0" y="1537494"/>
                </a:lnTo>
                <a:close/>
              </a:path>
            </a:pathLst>
          </a:custGeom>
          <a:solidFill>
            <a:srgbClr val="006600"/>
          </a:solidFill>
          <a:ln w="9525">
            <a:solidFill>
              <a:srgbClr val="4F6228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en-US">
              <a:latin typeface="Arial" pitchFamily="-111" charset="0"/>
              <a:cs typeface="MS PGothic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095DE0B0-5023-43E2-9758-5ADD4F5A5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That discovery is part of the process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7AB9019F-AEAD-40C2-A7BC-F61C78319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“Could have completed by 5 ½ years of PhD work in  &lt; 6 months time-wise if I had known at the beginning what I knew at the end”</a:t>
            </a:r>
          </a:p>
          <a:p>
            <a:endParaRPr lang="en-US" altLang="en-US" sz="2800"/>
          </a:p>
          <a:p>
            <a:r>
              <a:rPr lang="en-US" altLang="en-US" sz="2800"/>
              <a:t>But discovery is part of the training</a:t>
            </a:r>
          </a:p>
          <a:p>
            <a:endParaRPr lang="en-US" altLang="en-US" sz="2800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8038449A-A9E1-466E-9CA6-4B4193E53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How do we teach others?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09698588-8EB9-4585-896F-C7F9C1AE0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Research trainees</a:t>
            </a:r>
          </a:p>
          <a:p>
            <a:pPr lvl="1"/>
            <a:r>
              <a:rPr lang="en-US" altLang="en-US" sz="2400"/>
              <a:t>Supply articles</a:t>
            </a:r>
          </a:p>
          <a:p>
            <a:pPr lvl="1"/>
            <a:r>
              <a:rPr lang="en-US" altLang="en-US" sz="2400"/>
              <a:t>Ask questions to demonstrate understanding</a:t>
            </a:r>
          </a:p>
          <a:p>
            <a:pPr lvl="1"/>
            <a:r>
              <a:rPr lang="en-US" altLang="en-US" sz="2400">
                <a:solidFill>
                  <a:srgbClr val="FF0000"/>
                </a:solidFill>
              </a:rPr>
              <a:t>Have them observe and make their own procedure</a:t>
            </a:r>
          </a:p>
          <a:p>
            <a:r>
              <a:rPr lang="en-US" altLang="en-US" sz="2800"/>
              <a:t>Current trainees (residents and fellows):</a:t>
            </a:r>
          </a:p>
          <a:p>
            <a:pPr lvl="1"/>
            <a:r>
              <a:rPr lang="en-US" altLang="en-US" sz="2400"/>
              <a:t>Supply articles</a:t>
            </a:r>
          </a:p>
          <a:p>
            <a:pPr lvl="1"/>
            <a:r>
              <a:rPr lang="en-US" altLang="en-US" sz="2400"/>
              <a:t>Quizzes to demonstrate understanding</a:t>
            </a:r>
          </a:p>
          <a:p>
            <a:pPr lvl="1"/>
            <a:r>
              <a:rPr lang="en-US" altLang="en-US" sz="2400">
                <a:solidFill>
                  <a:srgbClr val="FF0000"/>
                </a:solidFill>
              </a:rPr>
              <a:t>Projects and case studies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ED01BC2E-6F59-4BC0-89EE-4A534F670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How do we teach others?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261C99FC-C031-4EFA-A096-EBA7AD9A8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Why did I not just give them my makeshift procedure? </a:t>
            </a:r>
          </a:p>
          <a:p>
            <a:pPr lvl="1"/>
            <a:r>
              <a:rPr lang="en-US" altLang="en-US" sz="2400"/>
              <a:t>Giving a procedure tells them how to do things, but not why</a:t>
            </a:r>
          </a:p>
          <a:p>
            <a:pPr lvl="1"/>
            <a:r>
              <a:rPr lang="en-US" altLang="en-US" sz="2400"/>
              <a:t>I feel that making those cognitive connections on how to synthesize information is as important if not more then the research findings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55EFF656-D505-478D-8101-20FEB72FF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Transitioning to the Clinical World: Accuracy and Reproducibility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EEC3003A-1DA0-492D-989C-DF6818C1A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4068763"/>
          </a:xfrm>
        </p:spPr>
        <p:txBody>
          <a:bodyPr/>
          <a:lstStyle/>
          <a:p>
            <a:r>
              <a:rPr lang="en-US" altLang="en-US" sz="2800"/>
              <a:t>As scientists we strive for the best and “good enough” is usually not acceptable</a:t>
            </a:r>
          </a:p>
          <a:p>
            <a:r>
              <a:rPr lang="en-US" altLang="en-US" sz="2800"/>
              <a:t>That </a:t>
            </a:r>
            <a:r>
              <a:rPr lang="en-US" altLang="en-US" sz="2800" b="1"/>
              <a:t>does not change </a:t>
            </a:r>
            <a:r>
              <a:rPr lang="en-US" altLang="en-US" sz="2800"/>
              <a:t>in a core laboratory, but the role of a core is different then of a research laboratory</a:t>
            </a:r>
          </a:p>
          <a:p>
            <a:pPr lvl="1"/>
            <a:r>
              <a:rPr lang="en-US" altLang="en-US" sz="2400"/>
              <a:t>Now performing  a service</a:t>
            </a:r>
          </a:p>
          <a:p>
            <a:pPr lvl="1"/>
            <a:r>
              <a:rPr lang="en-US" altLang="en-US" sz="2400"/>
              <a:t>Other researchers/clinical trials will depend on the result</a:t>
            </a:r>
          </a:p>
          <a:p>
            <a:r>
              <a:rPr lang="en-US" altLang="en-US" sz="2800"/>
              <a:t>Results need to be </a:t>
            </a:r>
            <a:r>
              <a:rPr lang="en-US" altLang="en-US" sz="2400">
                <a:solidFill>
                  <a:srgbClr val="FF0000"/>
                </a:solidFill>
              </a:rPr>
              <a:t>Accurate</a:t>
            </a:r>
            <a:r>
              <a:rPr lang="en-US" altLang="en-US" sz="2400"/>
              <a:t> and </a:t>
            </a:r>
            <a:r>
              <a:rPr lang="en-US" altLang="en-US" sz="2400">
                <a:solidFill>
                  <a:srgbClr val="FF0000"/>
                </a:solidFill>
              </a:rPr>
              <a:t>Reproducible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1C635557-B572-4C1D-BDB7-F079BF2DC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How to minimize variation?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D0A64E0C-3C00-46D2-A9F1-AC0CE23D8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075" y="1752600"/>
            <a:ext cx="8229600" cy="4068763"/>
          </a:xfrm>
        </p:spPr>
        <p:txBody>
          <a:bodyPr/>
          <a:lstStyle/>
          <a:p>
            <a:r>
              <a:rPr lang="en-US" altLang="en-US" sz="2400"/>
              <a:t>Crystal Growth</a:t>
            </a:r>
          </a:p>
          <a:p>
            <a:r>
              <a:rPr lang="en-US" altLang="en-US" sz="2400"/>
              <a:t>Mass spectrometry</a:t>
            </a:r>
          </a:p>
          <a:p>
            <a:pPr lvl="1"/>
            <a:r>
              <a:rPr lang="en-US" altLang="en-US" sz="2000"/>
              <a:t>Grad students would often play around with buffer conditions and elution programs</a:t>
            </a:r>
          </a:p>
          <a:p>
            <a:pPr lvl="1"/>
            <a:r>
              <a:rPr lang="en-US" altLang="en-US" sz="2000"/>
              <a:t>All had slightly different results</a:t>
            </a:r>
          </a:p>
          <a:p>
            <a:pPr lvl="1"/>
            <a:r>
              <a:rPr lang="en-US" altLang="en-US" sz="2000"/>
              <a:t>If we did that for drug confirmations, what would happen?</a:t>
            </a:r>
          </a:p>
          <a:p>
            <a:r>
              <a:rPr lang="en-US" altLang="en-US" sz="2400"/>
              <a:t>Molecular Genetics</a:t>
            </a:r>
          </a:p>
          <a:p>
            <a:pPr lvl="1"/>
            <a:r>
              <a:rPr lang="en-US" altLang="en-US" sz="2000"/>
              <a:t>Variant calling</a:t>
            </a:r>
          </a:p>
          <a:p>
            <a:r>
              <a:rPr lang="en-US" altLang="en-US" sz="2400"/>
              <a:t>Running gels</a:t>
            </a:r>
          </a:p>
          <a:p>
            <a:pPr lvl="1"/>
            <a:r>
              <a:rPr lang="en-US" altLang="en-US" sz="2400"/>
              <a:t> </a:t>
            </a:r>
            <a:r>
              <a:rPr lang="en-US" altLang="en-US" sz="2000"/>
              <a:t>Different buffer or voltage changes mobility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EDECB448-F611-4730-9042-77DEA20E1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Consistent Processes allow for effective troubleshooting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F27248F3-9EC8-46F0-9C64-26FEF4F0C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495800"/>
          </a:xfrm>
        </p:spPr>
        <p:txBody>
          <a:bodyPr/>
          <a:lstStyle/>
          <a:p>
            <a:r>
              <a:rPr lang="en-US" altLang="en-US" sz="2800"/>
              <a:t>Troubleshooting: We’ve all had to do it!</a:t>
            </a:r>
          </a:p>
          <a:p>
            <a:pPr lvl="1"/>
            <a:r>
              <a:rPr lang="en-US" altLang="en-US" sz="2400"/>
              <a:t>Reagent?</a:t>
            </a:r>
          </a:p>
          <a:p>
            <a:pPr lvl="1"/>
            <a:r>
              <a:rPr lang="en-US" altLang="en-US" sz="2400"/>
              <a:t>Instrument?</a:t>
            </a:r>
          </a:p>
          <a:p>
            <a:pPr lvl="1"/>
            <a:r>
              <a:rPr lang="en-US" altLang="en-US" sz="2400"/>
              <a:t>Operator?</a:t>
            </a:r>
          </a:p>
          <a:p>
            <a:pPr lvl="1"/>
            <a:r>
              <a:rPr lang="en-US" altLang="en-US" sz="2400">
                <a:solidFill>
                  <a:srgbClr val="FF0000"/>
                </a:solidFill>
              </a:rPr>
              <a:t>Consistency</a:t>
            </a:r>
            <a:r>
              <a:rPr lang="en-US" altLang="en-US" sz="2400"/>
              <a:t> allows for troubleshooting and traceability</a:t>
            </a:r>
          </a:p>
          <a:p>
            <a:pPr lvl="1"/>
            <a:endParaRPr lang="en-US" altLang="en-US" sz="2400"/>
          </a:p>
          <a:p>
            <a:pPr lvl="1"/>
            <a:r>
              <a:rPr lang="en-US" altLang="en-US" sz="2400"/>
              <a:t>Examples</a:t>
            </a:r>
          </a:p>
          <a:p>
            <a:pPr lvl="2"/>
            <a:r>
              <a:rPr lang="en-US" altLang="en-US"/>
              <a:t> Mishandling material</a:t>
            </a:r>
          </a:p>
          <a:p>
            <a:pPr lvl="1"/>
            <a:endParaRPr lang="en-US" altLang="en-US" sz="2400"/>
          </a:p>
          <a:p>
            <a:pPr lvl="1"/>
            <a:endParaRPr lang="en-US" altLang="en-US" sz="2400"/>
          </a:p>
          <a:p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C20B7BF7-A075-47C2-B1C1-BEC7F4850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Accuracy, Consistency and Reproducibility in a Core Facility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7F6AEA2C-A8C2-4F63-9171-1B273A93E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On a small scale accuracy, consistency and reproducibility are easier</a:t>
            </a:r>
          </a:p>
          <a:p>
            <a:pPr lvl="1"/>
            <a:r>
              <a:rPr lang="en-US" altLang="en-US" sz="2400"/>
              <a:t>Less operators</a:t>
            </a:r>
          </a:p>
          <a:p>
            <a:r>
              <a:rPr lang="en-US" altLang="en-US" sz="2800"/>
              <a:t>Developer often knows the intricacies of the system</a:t>
            </a:r>
          </a:p>
          <a:p>
            <a:r>
              <a:rPr lang="en-US" altLang="en-US" sz="2800"/>
              <a:t>Recall: a large proportion of scientific studies cannot be reproduced by other operators</a:t>
            </a:r>
          </a:p>
          <a:p>
            <a:r>
              <a:rPr lang="en-US" altLang="en-US" sz="2800"/>
              <a:t>Why?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4D2C79C6-97C6-4DE5-98B0-F56CD29D2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Scaling Up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31E41B80-6C00-47C8-82C4-CC2D29034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cs typeface="+mn-cs"/>
              </a:rPr>
              <a:t>Even the best idea can fail if it cannot be successfully operationalized and scaled</a:t>
            </a:r>
          </a:p>
          <a:p>
            <a:pPr lvl="1">
              <a:defRPr/>
            </a:pPr>
            <a:r>
              <a:rPr lang="en-US" altLang="en-US" sz="2400" dirty="0">
                <a:cs typeface="+mn-cs"/>
              </a:rPr>
              <a:t>Engineering (Chip manufacturers, </a:t>
            </a:r>
            <a:r>
              <a:rPr lang="en-US" altLang="en-US" sz="2400" dirty="0" err="1">
                <a:cs typeface="+mn-cs"/>
              </a:rPr>
              <a:t>wi-fi</a:t>
            </a:r>
            <a:r>
              <a:rPr lang="en-US" altLang="en-US" sz="2400" dirty="0">
                <a:cs typeface="+mn-cs"/>
              </a:rPr>
              <a:t>)</a:t>
            </a:r>
          </a:p>
          <a:p>
            <a:pPr lvl="1">
              <a:defRPr/>
            </a:pPr>
            <a:r>
              <a:rPr lang="en-US" altLang="en-US" sz="2400" dirty="0">
                <a:cs typeface="+mn-cs"/>
              </a:rPr>
              <a:t>Manufacturing (Tesla Model 3)</a:t>
            </a:r>
          </a:p>
          <a:p>
            <a:pPr lvl="1">
              <a:defRPr/>
            </a:pPr>
            <a:r>
              <a:rPr lang="en-US" altLang="en-US" sz="2400" dirty="0">
                <a:cs typeface="+mn-cs"/>
              </a:rPr>
              <a:t>Consumer Electronics (iPhone)</a:t>
            </a:r>
          </a:p>
          <a:p>
            <a:pPr lvl="1">
              <a:defRPr/>
            </a:pPr>
            <a:r>
              <a:rPr lang="en-US" altLang="en-US" sz="2400" dirty="0">
                <a:cs typeface="+mn-cs"/>
              </a:rPr>
              <a:t>Clinical Assays  (Biomarkers and Automation)</a:t>
            </a:r>
          </a:p>
          <a:p>
            <a:pPr marL="457200" lvl="1" indent="0">
              <a:buFont typeface="Arial" panose="020B0604020202020204" pitchFamily="34" charset="0"/>
              <a:buNone/>
              <a:defRPr/>
            </a:pPr>
            <a:endParaRPr lang="en-US" altLang="en-US" dirty="0">
              <a:cs typeface="+mn-cs"/>
            </a:endParaRPr>
          </a:p>
          <a:p>
            <a:pPr marL="457200" lvl="1" indent="0">
              <a:buFont typeface="Arial" panose="020B0604020202020204" pitchFamily="34" charset="0"/>
              <a:buNone/>
              <a:defRPr/>
            </a:pPr>
            <a:endParaRPr lang="en-US" altLang="en-US" dirty="0">
              <a:cs typeface="+mn-cs"/>
            </a:endParaRPr>
          </a:p>
          <a:p>
            <a:pPr marL="457200" lvl="1" indent="0">
              <a:buFont typeface="Arial" panose="020B0604020202020204" pitchFamily="34" charset="0"/>
              <a:buNone/>
              <a:defRPr/>
            </a:pPr>
            <a:r>
              <a:rPr lang="en-US" altLang="en-US" dirty="0">
                <a:cs typeface="+mn-cs"/>
              </a:rPr>
              <a:t>Why do start-ups with great ideas fail?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81EF9991-8A08-4F57-A820-0AEB86D9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Transitioning to Clinical World: </a:t>
            </a:r>
            <a:r>
              <a:rPr lang="en-US" altLang="en-US" sz="4000">
                <a:solidFill>
                  <a:srgbClr val="FF0000"/>
                </a:solidFill>
              </a:rPr>
              <a:t>Scalability 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DFEC6FC0-5768-4EB5-815E-DEB40196D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To grow the laboratory, process must be scalable </a:t>
            </a:r>
          </a:p>
          <a:p>
            <a:r>
              <a:rPr lang="en-US" altLang="en-US" sz="2800"/>
              <a:t>How to ensure consistency and reliability when there are multiple operators?</a:t>
            </a:r>
          </a:p>
          <a:p>
            <a:endParaRPr lang="en-US" altLang="en-US" sz="2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3">
            <a:extLst>
              <a:ext uri="{FF2B5EF4-FFF2-40B4-BE49-F238E27FC236}">
                <a16:creationId xmlns:a16="http://schemas.microsoft.com/office/drawing/2014/main" id="{5FA7EAA7-9FFE-4E27-AB62-67592DED50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/>
          <a:lstStyle/>
          <a:p>
            <a:r>
              <a:rPr lang="en-US" altLang="en-US"/>
              <a:t>Standard Operating Procedures (SOP)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C532D4C-866E-4266-B23E-5A5A80AE78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0FD242EE-92E0-44FE-8A3E-21EE14C7B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an SOP?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2AEC5493-8FFC-446B-B96C-2B031F080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/>
              <a:t>Standard Operating Procedure (SOP): </a:t>
            </a:r>
            <a:r>
              <a:rPr lang="en-US" altLang="en-US"/>
              <a:t>is a set of step-by-step instructions compiled by an organization to help workers carry out complex routine operations. </a:t>
            </a:r>
            <a:r>
              <a:rPr lang="en-US" altLang="en-US" b="1"/>
              <a:t>SOPs</a:t>
            </a:r>
            <a:r>
              <a:rPr lang="en-US" altLang="en-US"/>
              <a:t> aim to achieve </a:t>
            </a:r>
            <a:r>
              <a:rPr lang="en-US" altLang="en-US" u="sng"/>
              <a:t>efficiency</a:t>
            </a:r>
            <a:r>
              <a:rPr lang="en-US" altLang="en-US"/>
              <a:t>, </a:t>
            </a:r>
            <a:r>
              <a:rPr lang="en-US" altLang="en-US" u="sng"/>
              <a:t>quality output </a:t>
            </a:r>
            <a:r>
              <a:rPr lang="en-US" altLang="en-US"/>
              <a:t>and uniformity of </a:t>
            </a:r>
            <a:r>
              <a:rPr lang="en-US" altLang="en-US" u="sng"/>
              <a:t>performance</a:t>
            </a:r>
            <a:r>
              <a:rPr lang="en-US" altLang="en-US"/>
              <a:t>, while reducing miscommunication…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600"/>
          </a:p>
          <a:p>
            <a:pPr>
              <a:buFont typeface="Arial" panose="020B0604020202020204" pitchFamily="34" charset="0"/>
              <a:buNone/>
            </a:pPr>
            <a:r>
              <a:rPr lang="en-US" altLang="en-US" sz="1600"/>
              <a:t>https://</a:t>
            </a:r>
            <a:r>
              <a:rPr lang="en-US" altLang="en-US" sz="1800"/>
              <a:t>en.wikipedia.org/wiki/Standard_operating_procedure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899A52BE-050D-4AA6-83FD-10807026E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SOP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56DA29ED-E23B-4F3E-9FB4-DE4A84257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US"/>
              <a:t>An SOP helps ensure that results are </a:t>
            </a:r>
            <a:r>
              <a:rPr lang="en-US" altLang="en-US">
                <a:solidFill>
                  <a:srgbClr val="FF0000"/>
                </a:solidFill>
              </a:rPr>
              <a:t>reproducible </a:t>
            </a:r>
            <a:r>
              <a:rPr lang="en-US" altLang="en-US"/>
              <a:t>between operators and over time, allows for operations to be </a:t>
            </a:r>
            <a:r>
              <a:rPr lang="en-US" altLang="en-US">
                <a:solidFill>
                  <a:srgbClr val="FF0000"/>
                </a:solidFill>
              </a:rPr>
              <a:t>scaled</a:t>
            </a:r>
            <a:r>
              <a:rPr lang="en-US" altLang="en-US"/>
              <a:t> up and that the procedure is executed in a </a:t>
            </a:r>
            <a:r>
              <a:rPr lang="en-US" altLang="en-US">
                <a:solidFill>
                  <a:srgbClr val="FF0000"/>
                </a:solidFill>
              </a:rPr>
              <a:t>consistent</a:t>
            </a:r>
            <a:r>
              <a:rPr lang="en-US" altLang="en-US"/>
              <a:t> way.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EC5F9929-0A75-4DE4-A861-D1410A565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Why create an SOP?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ED012508-9D76-49E3-9038-9B561283F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Reproducibility and Consistency</a:t>
            </a:r>
          </a:p>
          <a:p>
            <a:pPr lvl="1" eaLnBrk="1" hangingPunct="1"/>
            <a:r>
              <a:rPr lang="en-US" altLang="en-US"/>
              <a:t>Reduce Variability</a:t>
            </a:r>
          </a:p>
          <a:p>
            <a:pPr lvl="1" eaLnBrk="1" hangingPunct="1"/>
            <a:r>
              <a:rPr lang="en-US" altLang="en-US"/>
              <a:t>Never want to be dependent on one person</a:t>
            </a:r>
          </a:p>
          <a:p>
            <a:pPr eaLnBrk="1" hangingPunct="1"/>
            <a:r>
              <a:rPr lang="en-US" altLang="en-US"/>
              <a:t>Improves </a:t>
            </a:r>
            <a:r>
              <a:rPr lang="en-US" altLang="en-US">
                <a:solidFill>
                  <a:srgbClr val="FF0000"/>
                </a:solidFill>
              </a:rPr>
              <a:t>Communication</a:t>
            </a:r>
          </a:p>
          <a:p>
            <a:pPr eaLnBrk="1" hangingPunct="1"/>
            <a:r>
              <a:rPr lang="en-US" altLang="en-US"/>
              <a:t>Scale</a:t>
            </a:r>
          </a:p>
          <a:p>
            <a:pPr lvl="1" eaLnBrk="1" hangingPunct="1"/>
            <a:r>
              <a:rPr lang="en-US" altLang="en-US"/>
              <a:t>Think of all the research you have done</a:t>
            </a:r>
          </a:p>
          <a:p>
            <a:pPr lvl="1" eaLnBrk="1" hangingPunct="1"/>
            <a:r>
              <a:rPr lang="en-US" altLang="en-US"/>
              <a:t>Imagine scaling it up 2x. 10x. 100x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4470D2A0-B303-4DFE-8E14-2BD2D9B50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39750"/>
            <a:ext cx="8229600" cy="1143000"/>
          </a:xfrm>
        </p:spPr>
        <p:txBody>
          <a:bodyPr/>
          <a:lstStyle/>
          <a:p>
            <a:r>
              <a:rPr lang="en-US" altLang="en-US" sz="4000"/>
              <a:t>Components of a SOP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37C41319-2D3A-45DD-A26E-8BD0E6E7C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863" y="1676400"/>
            <a:ext cx="8229600" cy="4068763"/>
          </a:xfrm>
        </p:spPr>
        <p:txBody>
          <a:bodyPr/>
          <a:lstStyle/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altLang="en-US" sz="2000"/>
              <a:t>Purpose or Principle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altLang="en-US" sz="2000"/>
              <a:t>Scope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altLang="en-US" sz="2000"/>
              <a:t>Specimen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altLang="en-US" sz="2000"/>
              <a:t>Supplies and Reagents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altLang="en-US" sz="2000"/>
              <a:t>Safety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altLang="en-US" sz="2000"/>
              <a:t>Equipment, Maintenance and Calibration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altLang="en-US" sz="2000"/>
              <a:t>Quality Control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altLang="en-US" sz="2000"/>
              <a:t>Stepwise Procedure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altLang="en-US" sz="2000"/>
              <a:t>Expected Values, Result Reporting and Interpretation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altLang="en-US" sz="2000"/>
              <a:t>Procedure Notes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altLang="en-US" sz="2000"/>
              <a:t>Procedure Limitations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altLang="en-US" sz="2000"/>
              <a:t>References</a:t>
            </a:r>
          </a:p>
        </p:txBody>
      </p:sp>
      <p:sp>
        <p:nvSpPr>
          <p:cNvPr id="32772" name="TextBox 1">
            <a:extLst>
              <a:ext uri="{FF2B5EF4-FFF2-40B4-BE49-F238E27FC236}">
                <a16:creationId xmlns:a16="http://schemas.microsoft.com/office/drawing/2014/main" id="{BB44FA3E-9557-4E74-A46F-CF1EEE860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863" y="6324600"/>
            <a:ext cx="80343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400">
                <a:solidFill>
                  <a:srgbClr val="FF0000"/>
                </a:solidFill>
                <a:latin typeface="Calibri" panose="020F0502020204030204" pitchFamily="34" charset="0"/>
              </a:rPr>
              <a:t>Nothing is too obvious to be included!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5FBAB0DE-7BD3-476A-9B05-796F1F651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33400"/>
            <a:ext cx="8229600" cy="1143000"/>
          </a:xfrm>
        </p:spPr>
        <p:txBody>
          <a:bodyPr/>
          <a:lstStyle/>
          <a:p>
            <a:r>
              <a:rPr lang="en-US" altLang="en-US" sz="4000"/>
              <a:t>Components of a SOP (v2)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6F31A946-D16F-475D-9DF6-935728639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676400"/>
            <a:ext cx="8229600" cy="4068763"/>
          </a:xfrm>
        </p:spPr>
        <p:txBody>
          <a:bodyPr/>
          <a:lstStyle/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altLang="en-US" sz="2000"/>
              <a:t>Purpose or Principle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altLang="en-US" sz="2000"/>
              <a:t>Scope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altLang="en-US" sz="2000"/>
              <a:t>Definitions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altLang="en-US" sz="2000"/>
              <a:t>Specimen Requirements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altLang="en-US" sz="2000"/>
              <a:t>Equipment, Reagents and Required Forms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altLang="en-US" sz="2000"/>
              <a:t>Equipment Calibration/Process Validation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altLang="en-US" sz="2000"/>
              <a:t>Quality Control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altLang="en-US" sz="2000"/>
              <a:t>Procedure and Calculations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altLang="en-US" sz="2000"/>
              <a:t>Interpretations of Results, Reference Values and Acceptable Criteria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altLang="en-US" sz="2000"/>
              <a:t>Reporting of Results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altLang="en-US" sz="2000"/>
              <a:t>Limitations, Troubleshoot or Comments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altLang="en-US" sz="2000"/>
              <a:t>References</a:t>
            </a: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71140485-B6CE-4B9E-8E37-AAF7A9AF5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z="4000"/>
              <a:t>1. Purpose or Principle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B80BCA55-476E-44B4-862B-15DE91818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1524000"/>
          </a:xfrm>
        </p:spPr>
        <p:txBody>
          <a:bodyPr/>
          <a:lstStyle/>
          <a:p>
            <a:r>
              <a:rPr lang="en-US" altLang="en-US" sz="2800"/>
              <a:t>Describe what the test is used for</a:t>
            </a:r>
          </a:p>
          <a:p>
            <a:r>
              <a:rPr lang="en-US" altLang="en-US" sz="2800"/>
              <a:t>Can be brief or very descriptive</a:t>
            </a:r>
          </a:p>
          <a:p>
            <a:r>
              <a:rPr lang="en-US" altLang="en-US" sz="2800"/>
              <a:t>We often describe what the analyte is used for</a:t>
            </a:r>
          </a:p>
        </p:txBody>
      </p:sp>
      <p:sp>
        <p:nvSpPr>
          <p:cNvPr id="35844" name="Title 1">
            <a:extLst>
              <a:ext uri="{FF2B5EF4-FFF2-40B4-BE49-F238E27FC236}">
                <a16:creationId xmlns:a16="http://schemas.microsoft.com/office/drawing/2014/main" id="{FC550097-5A7C-432D-A6CE-C79600FAA359}"/>
              </a:ext>
            </a:extLst>
          </p:cNvPr>
          <p:cNvSpPr txBox="1">
            <a:spLocks/>
          </p:cNvSpPr>
          <p:nvPr/>
        </p:nvSpPr>
        <p:spPr bwMode="auto">
          <a:xfrm>
            <a:off x="636588" y="3581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4000">
                <a:latin typeface="Calibri" panose="020F0502020204030204" pitchFamily="34" charset="0"/>
              </a:rPr>
              <a:t>2. Scope</a:t>
            </a:r>
          </a:p>
        </p:txBody>
      </p:sp>
      <p:sp>
        <p:nvSpPr>
          <p:cNvPr id="35845" name="Content Placeholder 2">
            <a:extLst>
              <a:ext uri="{FF2B5EF4-FFF2-40B4-BE49-F238E27FC236}">
                <a16:creationId xmlns:a16="http://schemas.microsoft.com/office/drawing/2014/main" id="{9D3B8886-141F-4110-B36C-2A584F0AD515}"/>
              </a:ext>
            </a:extLst>
          </p:cNvPr>
          <p:cNvSpPr txBox="1">
            <a:spLocks/>
          </p:cNvSpPr>
          <p:nvPr/>
        </p:nvSpPr>
        <p:spPr bwMode="auto">
          <a:xfrm>
            <a:off x="609600" y="4876800"/>
            <a:ext cx="8229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Where is the SOP used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Who is to use it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Sometime include test principle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889843B1-96E0-40B8-893E-5F3C6F674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z="4000"/>
              <a:t>3. Specimen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628C3BC8-F094-4570-BE41-834815561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1524000"/>
          </a:xfrm>
        </p:spPr>
        <p:txBody>
          <a:bodyPr/>
          <a:lstStyle/>
          <a:p>
            <a:r>
              <a:rPr lang="en-US" altLang="en-US" sz="2800"/>
              <a:t>Human, animals or synthetic</a:t>
            </a:r>
          </a:p>
          <a:p>
            <a:r>
              <a:rPr lang="en-US" altLang="en-US" sz="2800"/>
              <a:t>Blood, Urine, Body Fluid</a:t>
            </a:r>
          </a:p>
          <a:p>
            <a:r>
              <a:rPr lang="en-US" altLang="en-US" sz="2800"/>
              <a:t>Sample volume</a:t>
            </a:r>
          </a:p>
        </p:txBody>
      </p:sp>
      <p:sp>
        <p:nvSpPr>
          <p:cNvPr id="36868" name="Title 1">
            <a:extLst>
              <a:ext uri="{FF2B5EF4-FFF2-40B4-BE49-F238E27FC236}">
                <a16:creationId xmlns:a16="http://schemas.microsoft.com/office/drawing/2014/main" id="{DF079763-303A-4149-B12D-BA9E2F6D276F}"/>
              </a:ext>
            </a:extLst>
          </p:cNvPr>
          <p:cNvSpPr txBox="1">
            <a:spLocks/>
          </p:cNvSpPr>
          <p:nvPr/>
        </p:nvSpPr>
        <p:spPr bwMode="auto">
          <a:xfrm>
            <a:off x="304800" y="37338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4000">
                <a:latin typeface="Calibri" panose="020F0502020204030204" pitchFamily="34" charset="0"/>
              </a:rPr>
              <a:t>4. Supplies and Regents</a:t>
            </a:r>
          </a:p>
        </p:txBody>
      </p:sp>
      <p:sp>
        <p:nvSpPr>
          <p:cNvPr id="36869" name="Content Placeholder 2">
            <a:extLst>
              <a:ext uri="{FF2B5EF4-FFF2-40B4-BE49-F238E27FC236}">
                <a16:creationId xmlns:a16="http://schemas.microsoft.com/office/drawing/2014/main" id="{2D5E6FBA-CD91-49B6-80E4-8A3863E762F6}"/>
              </a:ext>
            </a:extLst>
          </p:cNvPr>
          <p:cNvSpPr txBox="1">
            <a:spLocks/>
          </p:cNvSpPr>
          <p:nvPr/>
        </p:nvSpPr>
        <p:spPr bwMode="auto">
          <a:xfrm>
            <a:off x="609600" y="4876800"/>
            <a:ext cx="8229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Self-explanatory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Keep in mind that if you are very detailed, you will have to update if there are any changes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8961680E-C919-45F2-A605-D44386F0B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z="4000"/>
              <a:t>5. Safety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C42B5623-7AA3-450C-8CBC-820945984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1524000"/>
          </a:xfrm>
        </p:spPr>
        <p:txBody>
          <a:bodyPr/>
          <a:lstStyle/>
          <a:p>
            <a:r>
              <a:rPr lang="en-US" altLang="en-US" sz="2800"/>
              <a:t>Protective gear required?</a:t>
            </a:r>
          </a:p>
          <a:p>
            <a:r>
              <a:rPr lang="en-US" altLang="en-US" sz="2800"/>
              <a:t>Special Handling?</a:t>
            </a:r>
          </a:p>
        </p:txBody>
      </p:sp>
      <p:sp>
        <p:nvSpPr>
          <p:cNvPr id="37892" name="Title 1">
            <a:extLst>
              <a:ext uri="{FF2B5EF4-FFF2-40B4-BE49-F238E27FC236}">
                <a16:creationId xmlns:a16="http://schemas.microsoft.com/office/drawing/2014/main" id="{B3B64250-4FE1-4075-8652-600AA0A15906}"/>
              </a:ext>
            </a:extLst>
          </p:cNvPr>
          <p:cNvSpPr txBox="1">
            <a:spLocks/>
          </p:cNvSpPr>
          <p:nvPr/>
        </p:nvSpPr>
        <p:spPr bwMode="auto">
          <a:xfrm>
            <a:off x="457200" y="356552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4000">
                <a:latin typeface="Calibri" panose="020F0502020204030204" pitchFamily="34" charset="0"/>
              </a:rPr>
              <a:t>6. Equipment, Maintenance and Calibration</a:t>
            </a:r>
          </a:p>
        </p:txBody>
      </p:sp>
      <p:sp>
        <p:nvSpPr>
          <p:cNvPr id="37893" name="Content Placeholder 2">
            <a:extLst>
              <a:ext uri="{FF2B5EF4-FFF2-40B4-BE49-F238E27FC236}">
                <a16:creationId xmlns:a16="http://schemas.microsoft.com/office/drawing/2014/main" id="{FF305F18-12AC-4CFD-B90B-C8F5075BFAFC}"/>
              </a:ext>
            </a:extLst>
          </p:cNvPr>
          <p:cNvSpPr txBox="1">
            <a:spLocks/>
          </p:cNvSpPr>
          <p:nvPr/>
        </p:nvSpPr>
        <p:spPr bwMode="auto">
          <a:xfrm>
            <a:off x="609600" y="4876800"/>
            <a:ext cx="8229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Should be as detailed as possible to ensure consistency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Ex: How often should instrument be calibrated?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How should material be handled?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FB479C38-D1C1-4FF9-B38D-A5C6FFA1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z="4000"/>
              <a:t>7. Quality Control (QC)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6A767DD6-4733-47FC-B2AB-17F021AF0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1524000"/>
          </a:xfrm>
        </p:spPr>
        <p:txBody>
          <a:bodyPr/>
          <a:lstStyle/>
          <a:p>
            <a:r>
              <a:rPr lang="en-US" altLang="en-US" sz="2800"/>
              <a:t>Can be combined into 6</a:t>
            </a:r>
          </a:p>
          <a:p>
            <a:r>
              <a:rPr lang="en-US" altLang="en-US" sz="2800"/>
              <a:t>Should describe how often QC  is used and how it is handled</a:t>
            </a:r>
          </a:p>
        </p:txBody>
      </p:sp>
      <p:sp>
        <p:nvSpPr>
          <p:cNvPr id="38916" name="Title 1">
            <a:extLst>
              <a:ext uri="{FF2B5EF4-FFF2-40B4-BE49-F238E27FC236}">
                <a16:creationId xmlns:a16="http://schemas.microsoft.com/office/drawing/2014/main" id="{527B2949-A75C-4A18-8896-1FC7C8C73086}"/>
              </a:ext>
            </a:extLst>
          </p:cNvPr>
          <p:cNvSpPr txBox="1">
            <a:spLocks/>
          </p:cNvSpPr>
          <p:nvPr/>
        </p:nvSpPr>
        <p:spPr bwMode="auto">
          <a:xfrm>
            <a:off x="457200" y="356552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4000">
                <a:latin typeface="Calibri" panose="020F0502020204030204" pitchFamily="34" charset="0"/>
              </a:rPr>
              <a:t>8. Stepwise Procedure</a:t>
            </a:r>
          </a:p>
        </p:txBody>
      </p:sp>
      <p:sp>
        <p:nvSpPr>
          <p:cNvPr id="38917" name="Content Placeholder 2">
            <a:extLst>
              <a:ext uri="{FF2B5EF4-FFF2-40B4-BE49-F238E27FC236}">
                <a16:creationId xmlns:a16="http://schemas.microsoft.com/office/drawing/2014/main" id="{1AAF71D2-EE28-44CC-BDAB-0430516FF9A6}"/>
              </a:ext>
            </a:extLst>
          </p:cNvPr>
          <p:cNvSpPr txBox="1">
            <a:spLocks/>
          </p:cNvSpPr>
          <p:nvPr/>
        </p:nvSpPr>
        <p:spPr bwMode="auto">
          <a:xfrm>
            <a:off x="609600" y="4876800"/>
            <a:ext cx="8229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Should be as detailed as possible to ensure consistency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A752245A-2A8E-4DF0-864D-7BC861AC6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z="4000"/>
              <a:t>9. Expected Values, Results Reporting and Interpretations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9FF17E3C-7840-4856-B407-523632391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1524000"/>
          </a:xfrm>
        </p:spPr>
        <p:txBody>
          <a:bodyPr/>
          <a:lstStyle/>
          <a:p>
            <a:r>
              <a:rPr lang="en-US" altLang="en-US" sz="2800"/>
              <a:t>Important for ensuring that results are reported correctly</a:t>
            </a:r>
          </a:p>
          <a:p>
            <a:r>
              <a:rPr lang="en-US" altLang="en-US" sz="2800"/>
              <a:t>Reference Range</a:t>
            </a:r>
          </a:p>
          <a:p>
            <a:r>
              <a:rPr lang="en-US" altLang="en-US" sz="2800"/>
              <a:t>Lists any flags or exceptions</a:t>
            </a:r>
          </a:p>
        </p:txBody>
      </p:sp>
      <p:sp>
        <p:nvSpPr>
          <p:cNvPr id="39940" name="Title 1">
            <a:extLst>
              <a:ext uri="{FF2B5EF4-FFF2-40B4-BE49-F238E27FC236}">
                <a16:creationId xmlns:a16="http://schemas.microsoft.com/office/drawing/2014/main" id="{BFE7E8B9-7FAE-46A9-9D2D-18C80B58902A}"/>
              </a:ext>
            </a:extLst>
          </p:cNvPr>
          <p:cNvSpPr txBox="1">
            <a:spLocks/>
          </p:cNvSpPr>
          <p:nvPr/>
        </p:nvSpPr>
        <p:spPr bwMode="auto">
          <a:xfrm>
            <a:off x="457200" y="37338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4000">
                <a:latin typeface="Calibri" panose="020F0502020204030204" pitchFamily="34" charset="0"/>
              </a:rPr>
              <a:t>10. Procedure Notes</a:t>
            </a:r>
          </a:p>
        </p:txBody>
      </p:sp>
      <p:sp>
        <p:nvSpPr>
          <p:cNvPr id="39941" name="Content Placeholder 2">
            <a:extLst>
              <a:ext uri="{FF2B5EF4-FFF2-40B4-BE49-F238E27FC236}">
                <a16:creationId xmlns:a16="http://schemas.microsoft.com/office/drawing/2014/main" id="{B526FA86-B9A8-4F9E-AFC0-6BC4C262FBA6}"/>
              </a:ext>
            </a:extLst>
          </p:cNvPr>
          <p:cNvSpPr txBox="1">
            <a:spLocks/>
          </p:cNvSpPr>
          <p:nvPr/>
        </p:nvSpPr>
        <p:spPr bwMode="auto">
          <a:xfrm>
            <a:off x="609600" y="4876800"/>
            <a:ext cx="8229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Can describe how to troubleshooting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Any misc issues.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Validation information?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E09ECC68-FB65-41B0-B4AE-71D4C683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z="4000"/>
              <a:t>11. Procedure Limitations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D507C127-8959-46F6-8A1F-98D37A3C3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1524000"/>
          </a:xfrm>
        </p:spPr>
        <p:txBody>
          <a:bodyPr/>
          <a:lstStyle/>
          <a:p>
            <a:r>
              <a:rPr lang="en-US" altLang="en-US" sz="2800"/>
              <a:t>Sensitivity, Specificity and Interferences</a:t>
            </a:r>
            <a:endParaRPr lang="en-US" altLang="en-US" sz="2800">
              <a:solidFill>
                <a:srgbClr val="FF0000"/>
              </a:solidFill>
            </a:endParaRPr>
          </a:p>
        </p:txBody>
      </p:sp>
      <p:sp>
        <p:nvSpPr>
          <p:cNvPr id="40964" name="Title 1">
            <a:extLst>
              <a:ext uri="{FF2B5EF4-FFF2-40B4-BE49-F238E27FC236}">
                <a16:creationId xmlns:a16="http://schemas.microsoft.com/office/drawing/2014/main" id="{A2C35216-2ECC-4DF6-BFE2-8F4425A4F64D}"/>
              </a:ext>
            </a:extLst>
          </p:cNvPr>
          <p:cNvSpPr txBox="1">
            <a:spLocks/>
          </p:cNvSpPr>
          <p:nvPr/>
        </p:nvSpPr>
        <p:spPr bwMode="auto">
          <a:xfrm>
            <a:off x="457200" y="356552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4000">
                <a:latin typeface="Calibri" panose="020F0502020204030204" pitchFamily="34" charset="0"/>
              </a:rPr>
              <a:t>12. References</a:t>
            </a:r>
          </a:p>
        </p:txBody>
      </p:sp>
      <p:sp>
        <p:nvSpPr>
          <p:cNvPr id="40965" name="Content Placeholder 2">
            <a:extLst>
              <a:ext uri="{FF2B5EF4-FFF2-40B4-BE49-F238E27FC236}">
                <a16:creationId xmlns:a16="http://schemas.microsoft.com/office/drawing/2014/main" id="{B927C182-B7C8-45B9-BF99-B94AEA095FA1}"/>
              </a:ext>
            </a:extLst>
          </p:cNvPr>
          <p:cNvSpPr txBox="1">
            <a:spLocks/>
          </p:cNvSpPr>
          <p:nvPr/>
        </p:nvSpPr>
        <p:spPr bwMode="auto">
          <a:xfrm>
            <a:off x="609600" y="4876800"/>
            <a:ext cx="8229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Important to verify that information in procedure is correct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90974E17-638F-49B5-89C0-2FCB03813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457200"/>
            <a:ext cx="8229600" cy="1143000"/>
          </a:xfrm>
        </p:spPr>
        <p:txBody>
          <a:bodyPr/>
          <a:lstStyle/>
          <a:p>
            <a:r>
              <a:rPr lang="en-US" altLang="en-US" sz="4000"/>
              <a:t>Tables and Charts are helpful</a:t>
            </a:r>
          </a:p>
        </p:txBody>
      </p:sp>
      <p:pic>
        <p:nvPicPr>
          <p:cNvPr id="41987" name="Picture 5">
            <a:extLst>
              <a:ext uri="{FF2B5EF4-FFF2-40B4-BE49-F238E27FC236}">
                <a16:creationId xmlns:a16="http://schemas.microsoft.com/office/drawing/2014/main" id="{92E70C9B-C967-4B86-8E8D-189E20866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95400"/>
            <a:ext cx="6938963" cy="537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A783385D-03A3-4950-95F3-887E32084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en-US" altLang="en-US" sz="4000"/>
              <a:t>Scenario: Clinical Laboratory Section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BF4607A5-A1B5-4169-9E70-8C3A662AB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57400"/>
            <a:ext cx="9144000" cy="4068763"/>
          </a:xfrm>
        </p:spPr>
        <p:txBody>
          <a:bodyPr/>
          <a:lstStyle/>
          <a:p>
            <a:pPr lvl="1"/>
            <a:r>
              <a:rPr lang="en-US" altLang="en-US"/>
              <a:t>Within 9 months, new supervisor, 50% new staff and new medical director</a:t>
            </a:r>
          </a:p>
          <a:p>
            <a:pPr lvl="1"/>
            <a:r>
              <a:rPr lang="en-US" altLang="en-US"/>
              <a:t>Historically section relied heavily on one person, and word of mouth training.</a:t>
            </a:r>
          </a:p>
          <a:p>
            <a:pPr lvl="1"/>
            <a:r>
              <a:rPr lang="en-US" altLang="en-US"/>
              <a:t>SOP was out of date and no one used it</a:t>
            </a:r>
          </a:p>
          <a:p>
            <a:pPr lvl="1"/>
            <a:r>
              <a:rPr lang="en-US" altLang="en-US"/>
              <a:t>Post-it notes everywhere</a:t>
            </a:r>
          </a:p>
          <a:p>
            <a:pPr lvl="1"/>
            <a:r>
              <a:rPr lang="en-US" altLang="en-US"/>
              <a:t>Hand-written changes, undated</a:t>
            </a:r>
          </a:p>
          <a:p>
            <a:pPr lvl="1"/>
            <a:r>
              <a:rPr lang="en-US" altLang="en-US"/>
              <a:t>Lack of consistency</a:t>
            </a:r>
          </a:p>
          <a:p>
            <a:pPr lvl="1"/>
            <a:r>
              <a:rPr lang="en-US" altLang="en-US"/>
              <a:t>“We have always done it this way?”</a:t>
            </a:r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pPr lvl="1">
              <a:buFont typeface="Arial" panose="020B0604020202020204" pitchFamily="34" charset="0"/>
              <a:buNone/>
            </a:pPr>
            <a:endParaRPr lang="en-US" altLang="en-US"/>
          </a:p>
          <a:p>
            <a:pPr lvl="1">
              <a:buFont typeface="Arial" panose="020B0604020202020204" pitchFamily="34" charset="0"/>
              <a:buNone/>
            </a:pPr>
            <a:endParaRPr lang="en-US" altLang="en-US"/>
          </a:p>
          <a:p>
            <a:pPr lvl="1">
              <a:buFont typeface="Arial" panose="020B0604020202020204" pitchFamily="34" charset="0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C04D3EFE-454F-4CDA-966B-2DAAEEDAA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Scenario: Updating an out of date SOP</a:t>
            </a: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516789E0-7088-4B65-A828-30962900F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How would you start?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CCC15CC8-D47E-4208-BC59-1AFA6C774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Scenario: Updating an out of date SOP</a:t>
            </a: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EA1696D0-B977-4789-9E2A-9BE622057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How would you start? </a:t>
            </a:r>
          </a:p>
          <a:p>
            <a:r>
              <a:rPr lang="en-US" altLang="en-US" sz="2800"/>
              <a:t>Assign a lead to each area </a:t>
            </a:r>
          </a:p>
          <a:p>
            <a:r>
              <a:rPr lang="en-US" altLang="en-US" sz="2800"/>
              <a:t>Have the person who knows the procedure the best work on it</a:t>
            </a:r>
          </a:p>
          <a:p>
            <a:r>
              <a:rPr lang="en-US" altLang="en-US" sz="2800"/>
              <a:t>Person in charge of updating policy and  training</a:t>
            </a:r>
          </a:p>
          <a:p>
            <a:r>
              <a:rPr lang="en-US" altLang="en-US" sz="2800"/>
              <a:t>After updating policy have a second technologist/operator read through and make comments</a:t>
            </a:r>
          </a:p>
          <a:p>
            <a:r>
              <a:rPr lang="en-US" altLang="en-US" sz="2800"/>
              <a:t>Only follow procedure</a:t>
            </a:r>
          </a:p>
          <a:p>
            <a:endParaRPr lang="en-US" altLang="en-US" sz="2800"/>
          </a:p>
          <a:p>
            <a:endParaRPr lang="en-US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DC31FC14-178F-43B6-92E5-426CCE10A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Maintaining an SOP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BECF4BD3-FFAF-477E-B681-F24075087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Make updates as needed</a:t>
            </a:r>
          </a:p>
          <a:p>
            <a:r>
              <a:rPr lang="en-US" altLang="en-US"/>
              <a:t>Spot check as needed</a:t>
            </a:r>
          </a:p>
          <a:p>
            <a:r>
              <a:rPr lang="en-US" altLang="en-US"/>
              <a:t>Make sure every change is communicated</a:t>
            </a:r>
          </a:p>
          <a:p>
            <a:pPr marL="971550" lvl="1" indent="-514350">
              <a:buFont typeface="Calibri" panose="020F0502020204030204" pitchFamily="34" charset="0"/>
              <a:buAutoNum type="arabicPeriod"/>
            </a:pPr>
            <a:r>
              <a:rPr lang="en-US" altLang="en-US"/>
              <a:t>Meeting to </a:t>
            </a:r>
            <a:r>
              <a:rPr lang="en-US" altLang="en-US" u="sng"/>
              <a:t>verbally highlight </a:t>
            </a:r>
            <a:r>
              <a:rPr lang="en-US" altLang="en-US"/>
              <a:t>the new changes</a:t>
            </a:r>
          </a:p>
          <a:p>
            <a:pPr marL="971550" lvl="1" indent="-514350">
              <a:buFont typeface="Calibri" panose="020F0502020204030204" pitchFamily="34" charset="0"/>
              <a:buAutoNum type="arabicPeriod"/>
            </a:pPr>
            <a:r>
              <a:rPr lang="en-US" altLang="en-US"/>
              <a:t>Employees have read new policy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5FB1CAB4-B6E1-46AA-BD62-189C31E6B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457200"/>
            <a:ext cx="8229600" cy="1143000"/>
          </a:xfrm>
        </p:spPr>
        <p:txBody>
          <a:bodyPr/>
          <a:lstStyle/>
          <a:p>
            <a:r>
              <a:rPr lang="en-US" altLang="en-US" sz="4000"/>
              <a:t>Tables and Charts</a:t>
            </a:r>
          </a:p>
        </p:txBody>
      </p:sp>
      <p:pic>
        <p:nvPicPr>
          <p:cNvPr id="48131" name="Picture 5">
            <a:extLst>
              <a:ext uri="{FF2B5EF4-FFF2-40B4-BE49-F238E27FC236}">
                <a16:creationId xmlns:a16="http://schemas.microsoft.com/office/drawing/2014/main" id="{89E76439-DC84-469A-9907-E1A1B55104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95400"/>
            <a:ext cx="6938963" cy="537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554B9D97-662A-4040-9ED4-AA49B6C5B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Some Document Control Platforms 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60F8A680-AE4C-41F4-9617-538F9B98E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PolicyTech (VUMC)</a:t>
            </a:r>
          </a:p>
          <a:p>
            <a:pPr eaLnBrk="1" hangingPunct="1"/>
            <a:r>
              <a:rPr lang="en-US" altLang="en-US"/>
              <a:t>Manual Method—upload PDF documents</a:t>
            </a:r>
          </a:p>
          <a:p>
            <a:pPr eaLnBrk="1" hangingPunct="1"/>
            <a:r>
              <a:rPr lang="en-US" altLang="en-US"/>
              <a:t>MediaLab</a:t>
            </a:r>
          </a:p>
          <a:p>
            <a:pPr eaLnBrk="1" hangingPunct="1"/>
            <a:r>
              <a:rPr lang="en-US" altLang="en-US"/>
              <a:t>OnBase</a:t>
            </a:r>
          </a:p>
          <a:p>
            <a:pPr eaLnBrk="1" hangingPunct="1"/>
            <a:r>
              <a:rPr lang="en-US" altLang="en-US"/>
              <a:t>Master Control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Things to remember: must Date and Sign!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4DD87125-6124-4925-975F-D1C63384D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Summary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E7F8E176-C11E-49F4-8D4D-250892775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Calibri" panose="020F0502020204030204" pitchFamily="34" charset="0"/>
              <a:buAutoNum type="arabicParenR"/>
            </a:pPr>
            <a:r>
              <a:rPr lang="en-US" altLang="en-US"/>
              <a:t>Research and Development and Operations  require different tools</a:t>
            </a:r>
          </a:p>
          <a:p>
            <a:pPr marL="514350" indent="-514350">
              <a:buFont typeface="Calibri" panose="020F0502020204030204" pitchFamily="34" charset="0"/>
              <a:buAutoNum type="arabicParenR"/>
            </a:pPr>
            <a:endParaRPr lang="en-US" altLang="en-US"/>
          </a:p>
          <a:p>
            <a:pPr marL="514350" indent="-514350">
              <a:buFont typeface="Calibri" panose="020F0502020204030204" pitchFamily="34" charset="0"/>
              <a:buAutoNum type="arabicParenR"/>
            </a:pPr>
            <a:r>
              <a:rPr lang="en-US" altLang="en-US"/>
              <a:t>A SOP can help with communication and establishing consistency in processes</a:t>
            </a:r>
          </a:p>
          <a:p>
            <a:pPr marL="514350" indent="-514350">
              <a:buFont typeface="Calibri" panose="020F0502020204030204" pitchFamily="34" charset="0"/>
              <a:buAutoNum type="arabicParenR"/>
            </a:pPr>
            <a:endParaRPr lang="en-US" altLang="en-US"/>
          </a:p>
          <a:p>
            <a:pPr marL="514350" indent="-514350">
              <a:buFont typeface="Calibri" panose="020F0502020204030204" pitchFamily="34" charset="0"/>
              <a:buAutoNum type="arabicParenR"/>
            </a:pPr>
            <a:r>
              <a:rPr lang="en-US" altLang="en-US"/>
              <a:t>Many different methods to develop and maintain SOP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998B7DB4-6C8D-4205-862A-F57901FA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SOP and Processes</a:t>
            </a:r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EEA86B0D-1F97-41B9-8BB8-2B075FB00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Caution against perfection: “Don’t let the perfect get in the way of the good”</a:t>
            </a:r>
          </a:p>
          <a:p>
            <a:pPr lvl="1"/>
            <a:r>
              <a:rPr lang="en-US" altLang="en-US" sz="2400"/>
              <a:t>Vitamin D</a:t>
            </a:r>
          </a:p>
          <a:p>
            <a:r>
              <a:rPr lang="en-US" altLang="en-US" sz="2800"/>
              <a:t>A “perfect test” is not perfect if it cannot be used</a:t>
            </a:r>
          </a:p>
          <a:p>
            <a:endParaRPr lang="en-US" altLang="en-US" sz="2800"/>
          </a:p>
          <a:p>
            <a:endParaRPr lang="en-US" altLang="en-US" sz="2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313FE7AF-F2AC-4821-AB52-988B8FFE0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Remember when….</a:t>
            </a: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15A12F95-DAFB-4D97-A466-3A2A573B6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first time you had to:</a:t>
            </a:r>
          </a:p>
          <a:p>
            <a:pPr lvl="1" eaLnBrk="1" hangingPunct="1"/>
            <a:r>
              <a:rPr lang="en-US" altLang="en-US"/>
              <a:t>Grow crystals?</a:t>
            </a:r>
          </a:p>
          <a:p>
            <a:pPr lvl="1" eaLnBrk="1" hangingPunct="1"/>
            <a:r>
              <a:rPr lang="en-US" altLang="en-US"/>
              <a:t>Pour a gel?</a:t>
            </a:r>
          </a:p>
          <a:p>
            <a:pPr lvl="1" eaLnBrk="1" hangingPunct="1"/>
            <a:r>
              <a:rPr lang="en-US" altLang="en-US"/>
              <a:t>Solve a structure?</a:t>
            </a:r>
          </a:p>
          <a:p>
            <a:pPr lvl="1" eaLnBrk="1" hangingPunct="1"/>
            <a:r>
              <a:rPr lang="en-US" altLang="en-US"/>
              <a:t>NMR, Mass spec, HPLC or [insert favorite technique] </a:t>
            </a:r>
          </a:p>
          <a:p>
            <a:pPr lvl="1" eaLnBrk="1" hangingPunct="1"/>
            <a:endParaRPr lang="en-US" altLang="en-US" i="1"/>
          </a:p>
          <a:p>
            <a:pPr lvl="1" algn="ctr" eaLnBrk="1" hangingPunct="1">
              <a:buFont typeface="Arial" panose="020B0604020202020204" pitchFamily="34" charset="0"/>
              <a:buNone/>
            </a:pPr>
            <a:r>
              <a:rPr lang="en-US" altLang="en-US" i="1"/>
              <a:t>What would you do differently now?</a:t>
            </a:r>
          </a:p>
          <a:p>
            <a:pPr lvl="1"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pic>
        <p:nvPicPr>
          <p:cNvPr id="52228" name="Picture 3" descr="File:Sodium chloride &lt;strong&gt;crystals&lt;/strong&gt; aboard ISS.jpg - Wikimedia ...">
            <a:extLst>
              <a:ext uri="{FF2B5EF4-FFF2-40B4-BE49-F238E27FC236}">
                <a16:creationId xmlns:a16="http://schemas.microsoft.com/office/drawing/2014/main" id="{DB31C555-6347-427F-92D2-14EF41FE8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209800"/>
            <a:ext cx="2767013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Secondary Pag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766</TotalTime>
  <Words>1613</Words>
  <Application>Microsoft Office PowerPoint</Application>
  <PresentationFormat>On-screen Show (4:3)</PresentationFormat>
  <Paragraphs>295</Paragraphs>
  <Slides>40</Slides>
  <Notes>9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MS PGothic</vt:lpstr>
      <vt:lpstr>Calibri</vt:lpstr>
      <vt:lpstr>Secondary Pages</vt:lpstr>
      <vt:lpstr>SOP Writing and Document Control for the Research Laboratory</vt:lpstr>
      <vt:lpstr>Objectives</vt:lpstr>
      <vt:lpstr>Outline</vt:lpstr>
      <vt:lpstr>My Background</vt:lpstr>
      <vt:lpstr>My Background</vt:lpstr>
      <vt:lpstr>Some Difference</vt:lpstr>
      <vt:lpstr>My Background</vt:lpstr>
      <vt:lpstr>How do we learn new skills/techniques?</vt:lpstr>
      <vt:lpstr>How do we learn new skills/techniques?</vt:lpstr>
      <vt:lpstr>That discovery is part of the process</vt:lpstr>
      <vt:lpstr>How do we teach others?</vt:lpstr>
      <vt:lpstr>How do we teach others?</vt:lpstr>
      <vt:lpstr>Transitioning to the Clinical World: Accuracy and Reproducibility</vt:lpstr>
      <vt:lpstr>How to minimize variation?</vt:lpstr>
      <vt:lpstr>Consistent Processes allow for effective troubleshooting</vt:lpstr>
      <vt:lpstr>Accuracy, Consistency and Reproducibility in a Core Facility</vt:lpstr>
      <vt:lpstr>Scaling Up</vt:lpstr>
      <vt:lpstr>Transitioning to Clinical World: Scalability </vt:lpstr>
      <vt:lpstr>Standard Operating Procedures (SOP)</vt:lpstr>
      <vt:lpstr>What is an SOP?</vt:lpstr>
      <vt:lpstr>SOP</vt:lpstr>
      <vt:lpstr>Why create an SOP?</vt:lpstr>
      <vt:lpstr>Components of a SOP</vt:lpstr>
      <vt:lpstr>Components of a SOP (v2)</vt:lpstr>
      <vt:lpstr>1. Purpose or Principle</vt:lpstr>
      <vt:lpstr>3. Specimen</vt:lpstr>
      <vt:lpstr>5. Safety</vt:lpstr>
      <vt:lpstr>7. Quality Control (QC)</vt:lpstr>
      <vt:lpstr>9. Expected Values, Results Reporting and Interpretations</vt:lpstr>
      <vt:lpstr>11. Procedure Limitations</vt:lpstr>
      <vt:lpstr>Tables and Charts are helpful</vt:lpstr>
      <vt:lpstr>Scenario: Clinical Laboratory Section</vt:lpstr>
      <vt:lpstr>Scenario: Updating an out of date SOP</vt:lpstr>
      <vt:lpstr>Scenario: Updating an out of date SOP</vt:lpstr>
      <vt:lpstr>Maintaining an SOP</vt:lpstr>
      <vt:lpstr>Tables and Charts</vt:lpstr>
      <vt:lpstr>Some Document Control Platforms </vt:lpstr>
      <vt:lpstr>Summary</vt:lpstr>
      <vt:lpstr>SOP and Processes</vt:lpstr>
      <vt:lpstr>Remember when….</vt:lpstr>
    </vt:vector>
  </TitlesOfParts>
  <Company>Vanderbilt Medical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Louis LaPrad</dc:creator>
  <cp:lastModifiedBy>app</cp:lastModifiedBy>
  <cp:revision>47</cp:revision>
  <dcterms:created xsi:type="dcterms:W3CDTF">2018-09-12T01:28:19Z</dcterms:created>
  <dcterms:modified xsi:type="dcterms:W3CDTF">2026-04-08T00:05:53Z</dcterms:modified>
</cp:coreProperties>
</file>